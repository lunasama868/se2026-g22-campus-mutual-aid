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3" r:id="rId14"/>
    <p:sldId id="257" r:id="rId5"/>
    <p:sldId id="271" r:id="rId22"/>
    <p:sldId id="272" r:id="rId23"/>
    <p:sldId id="258" r:id="rId6"/>
    <p:sldId id="259" r:id="rId7"/>
    <p:sldId id="273" r:id="rId24"/>
    <p:sldId id="274" r:id="rId25"/>
    <p:sldId id="275" r:id="rId26"/>
    <p:sldId id="276" r:id="rId27"/>
    <p:sldId id="260" r:id="rId8"/>
    <p:sldId id="277" r:id="rId28"/>
    <p:sldId id="261" r:id="rId9"/>
    <p:sldId id="281" r:id="rId32"/>
    <p:sldId id="264" r:id="rId15"/>
    <p:sldId id="265" r:id="rId16"/>
    <p:sldId id="266" r:id="rId17"/>
    <p:sldId id="280" r:id="rId31"/>
    <p:sldId id="278" r:id="rId29"/>
    <p:sldId id="267" r:id="rId18"/>
    <p:sldId id="282" r:id="rId33"/>
    <p:sldId id="268" r:id="rId19"/>
    <p:sldId id="283" r:id="rId34"/>
    <p:sldId id="270" r:id="rId21"/>
    <p:sldId id="284" r:id="rId35"/>
    <p:sldId id="285" r:id="rId36"/>
    <p:sldId id="279" r:id="rId30"/>
    <p:sldId id="269" r:id="rId20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2.xml"/><Relationship Id="rId9" Type="http://schemas.openxmlformats.org/officeDocument/2006/relationships/slide" Target="slides/slide14.xml"/><Relationship Id="rId10" Type="http://schemas.openxmlformats.org/officeDocument/2006/relationships/slide" Target="slides/slide2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1.xml"/><Relationship Id="rId19" Type="http://schemas.openxmlformats.org/officeDocument/2006/relationships/slide" Target="slides/slide23.xml"/><Relationship Id="rId20" Type="http://schemas.openxmlformats.org/officeDocument/2006/relationships/slide" Target="slides/slide27.xml"/><Relationship Id="rId21" Type="http://schemas.openxmlformats.org/officeDocument/2006/relationships/slide" Target="slides/slide25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3.xml"/><Relationship Id="rId29" Type="http://schemas.openxmlformats.org/officeDocument/2006/relationships/slide" Target="slides/slide20.xml"/><Relationship Id="rId30" Type="http://schemas.openxmlformats.org/officeDocument/2006/relationships/slide" Target="slides/slide26.xml"/><Relationship Id="rId31" Type="http://schemas.openxmlformats.org/officeDocument/2006/relationships/slide" Target="slides/slide19.xml"/><Relationship Id="rId32" Type="http://schemas.openxmlformats.org/officeDocument/2006/relationships/slide" Target="slides/slide15.xml"/><Relationship Id="rId33" Type="http://schemas.openxmlformats.org/officeDocument/2006/relationships/slide" Target="slides/slide22.xml"/><Relationship Id="rId34" Type="http://schemas.openxmlformats.org/officeDocument/2006/relationships/slide" Target="slides/slide24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【建议时长】30 秒　【主讲】罗嘉昊</a:t>
            </a:r>
          </a:p>
          <a:p/>
          <a:p>
            <a:r>
              <a:t>各位老师、同学好，我们是 SE2026-G22 组，我是组长罗嘉昊，这位是李雨鑫。我们的项目是《校园互助平台》——一个面向在校大学生、以平台积分结算的快递代取与二手教材交易小程序。接下来大约十五分钟，我们分六个部分汇报。</a:t>
            </a:r>
          </a:p>
          <a:p/>
          <a:p>
            <a:r>
              <a:t>【提示】站定、语速放慢；介绍队友时侧身示意。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【建议时长】50 秒　【主讲】罗嘉昊</a:t>
            </a:r>
          </a:p>
          <a:p/>
          <a:p>
            <a:r>
              <a:t>校园里有三个真实的痛点。第一，取快递难——校园面积大、快递点分散在不同校区，高峰期排队时间长，很多同学因为课业繁忙无法及时取件，包裹滞留甚至丢失的情况时有发生。第二，二手教材获取难——每学期教材费用高昂，但缺少可靠的校内二手渠道，现有平台信息杂乱、可信度低。第三，缺少校内互助渠道——同学之间互助需求旺盛，但微信群消息碎片化、没有信誉积累、交易无保障，需求无法被有效匹配。</a:t>
            </a:r>
          </a:p>
          <a:p/>
          <a:p>
            <a:r>
              <a:t>【提示】这页是全场第一个重点，语速放慢，三个痛点用手指依次点出。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【建议时长】40 秒　【主讲】李雨鑫</a:t>
            </a:r>
          </a:p>
          <a:p/>
          <a:p>
            <a:r>
              <a:t>产品由三大特色构成。第一是任务集市：用户发布“帮取快递”或“求购教材”需求，其他同学浏览并接单，实现供需双方快速匹配。第二是信誉体系：完成后双方互评，积累个人信誉积分，高信誉用户获得更多曝光和接单优先权，形成正向循环。第三是校园专属：仅限校内实名用户使用，保障交易安全与信任，快递代取与二手教材两大品类独立分区，信息清晰不混淆。</a:t>
            </a:r>
          </a:p>
          <a:p/>
          <a:p>
            <a:r>
              <a:t>【提示】换成李雨鑫主讲，交接时自然过渡。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【建议时长】50 秒　【主讲】李雨鑫</a:t>
            </a:r>
          </a:p>
          <a:p/>
          <a:p>
            <a:r>
              <a:t>核心功能分左右两块。左边是发布与接单：一键发布，选择帮取快递或求购教材类型；地图导航显示取件点到宿舍楼的步行距离与预计时间；智能匹配根据位置、时间和信誉分推荐接单人；订单状态变更时实时推送通知。右边是信誉与保障：校内身份认证确保每位用户真实可信；任务完成后双方互评打分，积累信誉档案；完成任务获得积分，可模拟押金保障交易安全；提供申诉通道，对低信誉用户进行限制和处罚。</a:t>
            </a:r>
          </a:p>
          <a:p/>
          <a:p>
            <a:r>
              <a:t>【提示】左右两块分别用手指点，不要念全，抓“发布—匹配—保障”这条线。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【建议时长】40 秒　【主讲】罗嘉昊</a:t>
            </a:r>
          </a:p>
          <a:p/>
          <a:p>
            <a:r>
              <a:t>技术架构这一页换我来讲。客户端用微信小程序原生开发，兼容性最好、文档最完善；后端采用微信云开发，包含云函数、云数据库与云存储，免运维、免域名备案，成本低；身份认证用微信登录换取 openid，配合学号和校园卡人工审核；交易结算采用平台积分账本，不接支付通道，规避资金池与支付合规风险；消息通知采用订阅消息加站内消息中心双通道。开发方法上，瀑布模型为骨架，实现阶段内采用迭代开发。</a:t>
            </a:r>
          </a:p>
          <a:p/>
          <a:p>
            <a:r>
              <a:t>【提示】这里换回罗嘉昊，讲技术部分要自信、干脆。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【建议时长】35 秒　【主讲】罗嘉昊</a:t>
            </a:r>
          </a:p>
          <a:p/>
          <a:p>
            <a:r>
              <a:t>运营策略分三块。用户获取上，通过邀请好友获得积分奖励、招募校园大使等方式，快速积累种子用户，实现低成本裂变增长。服务保障上，利用用户评价和信誉积分维护平台秩序，及时处置纠纷。积分经济上，完成任务积累积分可兑换权益或享受平台特权，形成“越活跃越受益”的正向循环，提升用户黏性。</a:t>
            </a:r>
          </a:p>
          <a:p/>
          <a:p>
            <a:r>
              <a:t>【提示】过渡页，节奏可以快一点。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【建议时长】20 秒　【主讲】罗嘉昊</a:t>
            </a:r>
          </a:p>
          <a:p/>
          <a:p>
            <a:r>
              <a:t>最后总结一句：我们希望打造一个校园轻量级的互助平台，让每一次互助都简单、可信、有温度。以上就是我们的汇报，谢谢各位老师，请批评指正。</a:t>
            </a:r>
          </a:p>
          <a:p/>
          <a:p>
            <a:r>
              <a:t>【提示】两人一起面向听众，鞠躬或点头致意，等待提问。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【建议时长】20 秒　【主讲】罗嘉昊</a:t>
            </a:r>
          </a:p>
          <a:p/>
          <a:p>
            <a:r>
              <a:t>汇报分六个部分：背景与需求、产品方案、技术方案、运营与可行性、项目管理，最后是参考文献。先讲我们为什么做这个项目。</a:t>
            </a:r>
          </a:p>
          <a:p/>
          <a:p>
            <a:r>
              <a:t>【提示】手指屏幕从上到下扫一遍，不要逐条念。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【主讲】罗嘉昊</a:t>
            </a:r>
          </a:p>
          <a:p/>
          <a:p>
            <a:r>
              <a:t>目标用户是本校在读学生，单个校区约一万五千人。核心用户有三类：大一大二课程密集，取件时间与上课冲突；大三大四考研实习，在校时间碎片化；研究生以实验室为主，也常需要人代取。典型场景包括雨天、大件包裹、生病或临时有事。使用动机这一栏最关键：帮别人取件能赚积分，用积分换教材能省钱，而且校内实名认证比校外平台更可信，全程不涉及现金，没有心理负担——这是本产品最核心的差异点。</a:t>
            </a:r>
          </a:p>
          <a:p/>
          <a:p>
            <a:r>
              <a:t>【提示】强调最后一栏，这是后面所有设计的出发点。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【主讲】罗嘉昊</a:t>
            </a:r>
          </a:p>
          <a:p/>
          <a:p>
            <a:r>
              <a:t>我们做了单校区测算。一所普通本科院校的单个校区，在校生一万五千人，年快递量约三百万件。保守估计其中百分之五到十会产生代取意愿，也就是每年约十五万单。教材方面，人均每学期两到四本有转手意愿，合计三到六万本。结论很明确：市场容量不是瓶颈，瓶颈在运营冷启动，这一点后面运营部分会展开。验证方式规划了四种：问卷不少于两百份、群内需求与成交观察、人工撮合灰度两周、快递点与楼管访谈。</a:t>
            </a:r>
          </a:p>
          <a:p/>
          <a:p>
            <a:r>
              <a:t>【提示】强调“容量不是瓶颈、冷启动才是”这句话，为后文埋伏笔。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【建议时长】60 秒　【主讲】李雨鑫</a:t>
            </a:r>
          </a:p>
          <a:p/>
          <a:p>
            <a:r>
              <a:t>积分是本平台唯一的交易媒介，规则设计直接决定平台能否长期健康运转。整个闭环是五步：第一步任务集市，需求方发布代取需求；第二步服务履约，取件、送达、双向确认；第三步积分结算，需求方扣分、跑腿方得分；第四步积分消费，用积分兑换二手教材；第五步平台回收，通过服务费抽成和违约扣分把积分收回流通池。获取端，完成一次代取得八到十五分，按重量和距离浮动；发布教材成交按书价转入；签到加一到五分，但设每日上限防止滥发。消耗端，代取扣八到十五分、购教材扣书价、违约与超时扣分。最下面是总量约束，也是最重要的一条：积分不可提现、不可用现金购买、不可用户间有偿转让。</a:t>
            </a:r>
          </a:p>
          <a:p/>
          <a:p>
            <a:r>
              <a:t>【提示】这页是本项目的核心创新点，语速放慢，闭环图按顺时针讲。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【主讲】李雨鑫</a:t>
            </a:r>
          </a:p>
          <a:p/>
          <a:p>
            <a:r>
              <a:t>订单状态由服务端统一校验，防止非法流转与积分错账。主流程是：待接单、已接单、取件中、待确认、已完成，另外有取消、申诉、仲裁三条异常分支。为保证积分不出错，我们采取三项措施：并发一致性上，积分采用冻结与解冻两段式扣减，配合幂等键防止重复扣分；凭证留痕上，取件凭证拍照上传云存储，图片设访问有效期；异常兜底上，超时未确认自动流转并扣信用分，小额争议由积分池兜底。</a:t>
            </a:r>
          </a:p>
          <a:p/>
          <a:p>
            <a:r>
              <a:t>【提示】重点是中间那条主流程，异常分支一句话带过即可。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【建议时长】30 秒　【主讲】李雨鑫</a:t>
            </a:r>
          </a:p>
          <a:p/>
          <a:p>
            <a:r>
              <a:t>MVP 阶段聚焦三屏核心流程：任务集市、任务详情、我的积分，降低开发与用户学习成本。设计原则是一屏一件事、积分明示、状态可见、关键操作二次确认。</a:t>
            </a:r>
          </a:p>
          <a:p/>
          <a:p>
            <a:r>
              <a:t>【提示】快速带过，让听众看一眼即可，不要停留太久。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【主讲】李雨鑫</a:t>
            </a:r>
          </a:p>
          <a:p/>
          <a:p>
            <a:r>
              <a:t>我们把替代方案分成四类。校内 QQ 群、微信群：免费、就在群里，但刷屏漏单、无信用记录、纠纷无凭据。闲鱼、转转：全国覆盖、可交易，但以现金计价、需邮寄、校内面交体验差。多抓鱼、孔夫子：二手书垂直，但回收价低、教材品类覆盖差、周期长。菜鸟或官方代取：有平台保障，但校园覆盖不均、仍需现金付费。我们的差异化壁垒不在技术，而在校内实名身份、积分闭环、履约信用数据三者叠加形成的本地网络效应——用户越多，撮合越快，积分越有用，越难被替代。</a:t>
            </a:r>
          </a:p>
          <a:p/>
          <a:p>
            <a:r>
              <a:t>【提示】四类竞品快速带过，重心放在最后一句“壁垒”上。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【建议时长】40 秒　【主讲】罗嘉昊</a:t>
            </a:r>
          </a:p>
          <a:p/>
          <a:p>
            <a:r>
              <a:t>系统分四层。客户端层是首页任务集市、任务详情接单、教材交易、个人中心四个页面；云函数层承担用户与认证、订单状态机、积分账本、评价与申诉四类业务逻辑；数据层用云数据库保存用户、任务、订单和账本，云存储保存书籍图片与取件凭证；平台能力层复用微信登录、订阅消息、地图 API，并自建对账脚本。分层的意义是职责清晰，我们两个人可以并行开发互不干扰。</a:t>
            </a:r>
          </a:p>
          <a:p/>
          <a:p>
            <a:r>
              <a:t>【提示】强调最后一句“两个人可以并行开发”，呼应团队分工。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【主讲】罗嘉昊</a:t>
            </a:r>
          </a:p>
          <a:p/>
          <a:p>
            <a:r>
              <a:t>这一页讲具体怎么落地。我们强调顺序：先供给、后需求。第一步种子供给，招募二十到五十名种子跑腿者，首单双倍积分补贴，建群直接对接、人工兜底撮合；第二步需求拉动，通过班级群、宿舍楼海报扫码入群，期末用教材免费挂出来引流，同时争取学生会与社团合作；第三步留存与扩散，做信用分层让高信用用户优先接单，对接志愿时长和劳动学分认定，用跑腿排行榜和荣誉激励维持活跃。冷启动顺序不可颠倒——必须先保证有人接单，再大规模拉需求端，否则需求方第一次体验失败就再也不来了。</a:t>
            </a:r>
          </a:p>
          <a:p/>
          <a:p>
            <a:r>
              <a:t>【提示】把最后一句说重，这是评委最可能追问的点。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【建议时长】40 秒　【主讲】罗嘉昊</a:t>
            </a:r>
          </a:p>
          <a:p/>
          <a:p>
            <a:r>
              <a:t>可行性我们从五个维度评估。需求可行性：可行且强——快递最后一百米和教材学期性闲置是真实、高频、可低成本验证的痛点。技术可行性：可行且强——微信小程序加云开发可覆盖全部核心功能，一到两人四到八周即可交付 MVP。经济可行性：有条件可行——现金成本千元级每年，但必须接受非营利、覆盖成本的定位。运营可行性：中等风险——双边市场冷启动是最大变数。合规可行性：有条件可行——守住积分不可双向兑现金的红线，并先行确认主体资质。总体结论是值得立项，但建议定位为校内公益互助平台，先单校区小范围试点。</a:t>
            </a:r>
          </a:p>
          <a:p/>
          <a:p>
            <a:r>
              <a:t>【提示】五个维度依次点出结论色块即可，不要展开。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【主讲】罗嘉昊</a:t>
            </a:r>
          </a:p>
          <a:p/>
          <a:p>
            <a:r>
              <a:t>技术侧，选型是微信小程序加云开发；核心链路是微信登录换取 openid、实名认证、订单状态机、积分账本；技术难点在积分并发一致性、防刷单和订阅消息触达次数受限；结论是无技术门槛，一到两人四到八周可交付，技术不构成项目壁垒。经济侧，成本结构是认证费三百元每年加云开发免费额度，没有支付通道；自研模式下现金投入可控制在千元级每年，不存在资金池与垫资风险；收益路径包括校园商家广告、学校经费与志愿时长支持、社团活动合作赞助；但定位红线是不售卖积分、不抽成现金，目标是覆盖成本而非产生利润。</a:t>
            </a:r>
          </a:p>
          <a:p/>
          <a:p>
            <a:r>
              <a:t>【提示】技术侧讲完可以直接接经济侧，中间加一句“经济上我们算过一笔账”。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【主讲】李雨鑫</a:t>
            </a:r>
          </a:p>
          <a:p/>
          <a:p>
            <a:r>
              <a:t>这一页讲合规，是本项目最重要的红线。积分只在校内单向流通，不与人民币或实物形成双向兑换。四条红线：第一不可提现，任何情况下不得将积分兑换为现金；第二不可用现金购买，不设充值入口，积分只能由行为获得；第三不可有偿转让，禁止用户之间买卖积分，异常大额转让触发风控；第四平台不经手资金，全链路无支付通道，产品层面也不预留。守住这条线，项目就不会被认定为变相代币、预付卡或非法支付结算。另外还有配套合规三项：主体资质要企业或个体户、隐私政策要符合个人信息保护法、教材版权仅限正版纸质书，禁止电子版与翻印版。</a:t>
            </a:r>
          </a:p>
          <a:p/>
          <a:p>
            <a:r>
              <a:t>【提示】语速放慢、语气肯定；这一页是评委最关注的风险点。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【主讲】李雨鑫</a:t>
            </a:r>
          </a:p>
          <a:p/>
          <a:p>
            <a:r>
              <a:t>我们识别了八类风险，按发生可能性和影响程度分成四个象限。重点管控的是高可能、高影响的三项：资质风险，个人主体可能无法通过跑腿代办类目审核，对策是在 P1 阶段就确认主体路径，作为立项一票否决的前置条件；进度风险，两人小组人力有限且 W10 到 W11 是峰值周，对策是范围锁定 MVP、峰值周例会加密为两次；运营风险，双边市场冷启动可能失败，对策是先补贴供给端，保证需求发布后三十分钟内有人接单。持续监控的是合规风险、数据风险和政策风险；信用风险放在关注区；法律风险影响和可能性都较低，属于可接受范围。</a:t>
            </a:r>
          </a:p>
          <a:p/>
          <a:p>
            <a:r>
              <a:t>【提示】对着矩阵讲，按象限顺序，重点说“重点管控”那一格。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【主讲】李雨鑫</a:t>
            </a:r>
          </a:p>
          <a:p/>
          <a:p>
            <a:r>
              <a:t>预算方面，现金支出以小程序主体认证费三百元每年为主，云开发零到一千三百元、域名零到一百元、推广物料零到一千元，人员成本为零。这里特别说明一项：我们全过程使用 DeepSeek 大模型辅助开发，按 token 计费。预计十六周共约九百一十轮交互，输入约三千零三十万 tokens、输出约三百三十七万 tokens，采用 deepseek-flash 模型，按高峰与空闲各半估算，总费用约三十五元；即使改用 pro 模型也只有约一百三十五元。合计现金预算三百三十五到两千八百七十元，可以控制在千元级，AI 成本占比不足百分之十二。</a:t>
            </a:r>
          </a:p>
          <a:p/>
          <a:p>
            <a:r>
              <a:t>【提示】这页是我们区别于其他组的地方，可以强调“AI 辅助开发成本极低”。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【主讲】罗嘉昊</a:t>
            </a:r>
          </a:p>
          <a:p/>
          <a:p>
            <a:r>
              <a:t>项目计划完全按课程进度表排定。总工期是十六个教学周，从九月十六日到一月六日，划分为十个阶段、十四个里程碑。每个阶段的时间边界都由课程进度表中的交付要求决定，比如 P2 项目计划对应九月三十日交计划、十月十四日评审修订；P4 需求分析对应十月二十八日交 SRS、十一月四日完成修订；P7 编码实现对应十二月二日交代码清单和测试用例。</a:t>
            </a:r>
          </a:p>
          <a:p/>
          <a:p>
            <a:r>
              <a:t>【提示】强调“完全按课程进度表排定”，这是评审表明确要求的一项。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【建议时长】35 秒　【主讲】罗嘉昊</a:t>
            </a:r>
          </a:p>
          <a:p/>
          <a:p>
            <a:r>
              <a:t>这是十四个里程碑的全景时间轴，横轴从九月到次年一月。可以看到九到十月是需求与可行性阶段，十一月进入设计与编码，十二月是测试与总结，一月六日完成课程作业评审。每个里程碑都对应课程进度表中的一次交付。</a:t>
            </a:r>
          </a:p>
          <a:p/>
          <a:p>
            <a:r>
              <a:t>【提示】快速扫一遍时间轴，不要逐个念里程碑。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【主讲】罗嘉昊</a:t>
            </a:r>
          </a:p>
          <a:p/>
          <a:p>
            <a:r>
              <a:t>团队只有两个人，采用扁平化结构。我担任组长，负责项目管理与计划、可行性研究、SRS、总体设计、云函数与积分账本、缺陷修复和总结报告；李雨鑫负责分组材料与计划 PPT、需求调研与建模、原型与 UI、详细设计报告、小程序前端与推送、测试用例与测试报告、试运行与使用手册。项目介绍 PPT、需求评审 PPT、设计评审 PPT、代码清单、总评审 PPT 和材料归档由我们共同承担。覆盖情况上，两人都覆盖了 W1 到 W16 全部十六个教学周，没有空档周。</a:t>
            </a:r>
          </a:p>
          <a:p/>
          <a:p>
            <a:r>
              <a:t>【提示】这一页回应评审表“每个成员的任务是否贯穿整个项目”。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【主讲】罗嘉昊</a:t>
            </a:r>
          </a:p>
          <a:p/>
          <a:p>
            <a:r>
              <a:t>这是由 GanttProject 生成的任务级甘特图，共三十八项任务、十六个教学周。颜色区分负责人：靛蓝是罗嘉昊，天蓝是李雨鑫，灰色是全体共同承担。横轴上的红色菱形是十四个里程碑。可以看到 W10 到 W11 是明显的高峰期，这是我们识别出的资源过载点，也已经安排了对应的缓解措施。</a:t>
            </a:r>
          </a:p>
          <a:p/>
          <a:p>
            <a:r>
              <a:t>【提示】手指跟踪几项关键任务，比如 T1.5 贯穿全程、T6.2 编码集中在中段。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【建议时长】45 秒　【主讲】李雨鑫</a:t>
            </a:r>
          </a:p>
          <a:p/>
          <a:p>
            <a:r>
              <a:t>质量保证用三道关口：文档评审、代码走查、测试验证。每个阶段末组织一次文档评审；积分账本和订单状态机这类核心模块在编码完成后安排代码走查；所有提交到主干的代码须先自测通过。质量目标是无严重缺陷遗留，一般缺陷修复率不低于百分之九十。配置管理上，源码、文档、数据库脚本全部纳入 Git 管理，采用 main 主干加 feature 分支的两级策略，文档版本号与里程碑 tag 对应，变更走申请、评估、批准、实施、记录五步流程。会议记录、变更台账、评审记录都会随里程碑归档，作为验收材料的一部分。</a:t>
            </a:r>
          </a:p>
          <a:p/>
          <a:p>
            <a:r>
              <a:t>【提示】如果被问“你们真的用 Git 了吗”，这里可以顺势说仓库已建立。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【建议时长】20 秒　【主讲】李雨鑫</a:t>
            </a:r>
          </a:p>
          <a:p/>
          <a:p>
            <a:r>
              <a:t>我们的资料主要来自三类：国标 GB/T 8567 和 9385，微信开放文档与小程序平台运营规范，以及国家邮政局统计公报、个人信息保护法、著作权法、快递暂行条例等法规文件。正文中需要标注的地方都用方括号数字标出了引用位置。</a:t>
            </a:r>
          </a:p>
          <a:p/>
          <a:p>
            <a:r>
              <a:t>【提示】快速带过，不必逐条念。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【建议时长】50 秒　【主讲】罗嘉昊</a:t>
            </a:r>
          </a:p>
          <a:p/>
          <a:p>
            <a:r>
              <a:t>这一页把 15 项阶段交付物逐项落到人。左边是十个阶段各自的交付物和责任人，可以看到每个阶段的交付物都有明确的主责人，不存在无人负责的情况。右边是贡献汇总：总工作量 62 人天，我承担 34.10 人天占 55.0%，李雨鑫承担 27.90 人天占 45.0%，分配基本均衡。下面一行是关键：两人都覆盖了 W1 到 W16 全部十六个教学周，没有空档周；评审 PPT、代码清单、总评审 PPT 这六项汇报型交付物由我们共同承担。</a:t>
            </a:r>
          </a:p>
          <a:p/>
          <a:p>
            <a:r>
              <a:t>【提示】这一页直接回应评审表“是否给每个组员分配了任务、是否合理”和“贡献是否均衡”。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【建议时长】40 秒　【主讲】罗嘉昊</a:t>
            </a:r>
          </a:p>
          <a:p/>
          <a:p>
            <a:r>
              <a:t>团队绩效评价我们做了量化。四个维度：任务完成度占 40%、交付质量 25%、进度符合度 20%、协作与沟通 15%。评价值来自三方：自评 20%、互评 40%、指导教师 40%。覆盖 M1 到 M3 三个里程碑，每次评审后三天内完成。</a:t>
            </a:r>
          </a:p>
          <a:p>
            <a:r>
              <a:t>结果是：罗嘉昊加权总分 90.1，李雨鑫 91.2，两人都达到优秀；四个维度都在 89 分以上，没有短板。李雨鑫在协作与沟通上拿到 94 分，领先 4 分。因为都在 85 分以上，所以不需要调整任务分配。</a:t>
            </a:r>
          </a:p>
          <a:p/>
          <a:p>
            <a:r>
              <a:t>【提示】这一页回应评审表“是否为每个组员进行了有效的绩效评价”——重点是数字可追溯、有评价依据。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【建议时长】40 秒　【主讲】李雨鑫</a:t>
            </a:r>
          </a:p>
          <a:p/>
          <a:p>
            <a:r>
              <a:t>截至计划评审阶段，我们在寝室一共开了 2 次正式例会，都形成了书面纪要并归档。</a:t>
            </a:r>
          </a:p>
          <a:p>
            <a:r>
              <a:t>第 1 次在第 3 教学周 9 月 30 日，主要做计划书内部评审，发现 WBS 只到工作包层级、缺任务级工期和资源负载，决议补齐后再提交；同时对齐了课程进度表的关键日期。</a:t>
            </a:r>
          </a:p>
          <a:p>
            <a:r>
              <a:t>第 2 次在第 4 教学周 10 月 14 日，是计划评审之后，落实评委的三点意见，计划书升版到 V3.0；同时识别出 W10–W11 的资源过载，决议把编码提前到第 9 周、峰值周由两人共同承担。</a:t>
            </a:r>
          </a:p>
          <a:p>
            <a:r>
              <a:t>纪要要求四要素齐全，会后 24 小时内归档，下次例会逐项核对待办。</a:t>
            </a:r>
          </a:p>
          <a:p/>
          <a:p>
            <a:r>
              <a:t>【提示】评审表问“是否召开项目会议、有没有会议记录、内容是否合理有效及时”——这页正面回答。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21031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31520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项目方案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快递代取与二手教材轻量级匹配平台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软件工程课程设计       组长：罗嘉昊    组员：李雨鑫</a:t>
            </a: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r>
              <a:rPr lang="en-US" altLang="zh-CN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r>
              <a:rPr lang="en-US" altLang="zh-CN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r>
              <a:rPr lang="zh-CN" alt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/>
            </a:r>
            <a:endParaRPr lang="zh-CN" altLang="en-US" sz="14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Picture 8" descr="logo-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"/>
            <a:ext cx="2562515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48640" y="141732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NumBg 2"/>
          <p:cNvSpPr/>
          <p:nvPr/>
        </p:nvSpPr>
        <p:spPr>
          <a:xfrm>
            <a:off x="768096" y="167335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68096" y="168249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</a:p>
        </p:txBody>
      </p:sp>
      <p:sp>
        <p:nvSpPr>
          <p:cNvPr id="7" name="Text 4"/>
          <p:cNvSpPr/>
          <p:nvPr/>
        </p:nvSpPr>
        <p:spPr>
          <a:xfrm>
            <a:off x="1481328" y="158191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背景与需求</a:t>
            </a:r>
          </a:p>
        </p:txBody>
      </p:sp>
      <p:sp>
        <p:nvSpPr>
          <p:cNvPr id="8" name="Text 5"/>
          <p:cNvSpPr/>
          <p:nvPr/>
        </p:nvSpPr>
        <p:spPr>
          <a:xfrm>
            <a:off x="1481328" y="205740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现实痛点 · 目标用户与场景 · 需求规模与验证</a:t>
            </a:r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NumBg 7"/>
          <p:cNvSpPr/>
          <p:nvPr/>
        </p:nvSpPr>
        <p:spPr>
          <a:xfrm>
            <a:off x="6483096" y="167335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3096" y="168249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</a:p>
        </p:txBody>
      </p:sp>
      <p:sp>
        <p:nvSpPr>
          <p:cNvPr id="12" name="Text 9"/>
          <p:cNvSpPr/>
          <p:nvPr/>
        </p:nvSpPr>
        <p:spPr>
          <a:xfrm>
            <a:off x="7196328" y="158191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产品方案</a:t>
            </a:r>
          </a:p>
        </p:txBody>
      </p:sp>
      <p:sp>
        <p:nvSpPr>
          <p:cNvPr id="13" name="Text 10"/>
          <p:cNvSpPr/>
          <p:nvPr/>
        </p:nvSpPr>
        <p:spPr>
          <a:xfrm>
            <a:off x="7196328" y="205740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产品概述 · 核心功能 · 积分体系 · 业务流程 · 界面原型 · 竞品对比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NumBg 12"/>
          <p:cNvSpPr/>
          <p:nvPr/>
        </p:nvSpPr>
        <p:spPr>
          <a:xfrm>
            <a:off x="768096" y="331927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8096" y="332841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</a:p>
        </p:txBody>
      </p:sp>
      <p:sp>
        <p:nvSpPr>
          <p:cNvPr id="17" name="Text 14"/>
          <p:cNvSpPr/>
          <p:nvPr/>
        </p:nvSpPr>
        <p:spPr>
          <a:xfrm>
            <a:off x="1481328" y="322783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技术方案</a:t>
            </a:r>
          </a:p>
        </p:txBody>
      </p:sp>
      <p:sp>
        <p:nvSpPr>
          <p:cNvPr id="18" name="Text 15"/>
          <p:cNvSpPr/>
          <p:nvPr/>
        </p:nvSpPr>
        <p:spPr>
          <a:xfrm>
            <a:off x="1481328" y="370332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 · 系统分层架构</a:t>
            </a:r>
          </a:p>
        </p:txBody>
      </p:sp>
      <p:sp>
        <p:nvSpPr>
          <p:cNvPr id="19" name="Shape 16"/>
          <p:cNvSpPr/>
          <p:nvPr/>
        </p:nvSpPr>
        <p:spPr>
          <a:xfrm>
            <a:off x="6263640" y="306324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NumBg 17"/>
          <p:cNvSpPr/>
          <p:nvPr/>
        </p:nvSpPr>
        <p:spPr>
          <a:xfrm>
            <a:off x="6483096" y="331927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83096" y="332841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</a:p>
        </p:txBody>
      </p:sp>
      <p:sp>
        <p:nvSpPr>
          <p:cNvPr id="22" name="Text 19"/>
          <p:cNvSpPr/>
          <p:nvPr/>
        </p:nvSpPr>
        <p:spPr>
          <a:xfrm>
            <a:off x="7196328" y="322783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运营与可行性</a:t>
            </a:r>
          </a:p>
        </p:txBody>
      </p:sp>
      <p:sp>
        <p:nvSpPr>
          <p:cNvPr id="23" name="Text 20"/>
          <p:cNvSpPr/>
          <p:nvPr/>
        </p:nvSpPr>
        <p:spPr>
          <a:xfrm>
            <a:off x="7196328" y="370332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运营策略与推广路径 · 可行性分析（五维总览 / 技术与经济 / 合规红线 / 风险与对策）</a:t>
            </a:r>
          </a:p>
        </p:txBody>
      </p:sp>
      <p:sp>
        <p:nvSpPr>
          <p:cNvPr id="24" name="Shape 21"/>
          <p:cNvSpPr/>
          <p:nvPr/>
        </p:nvSpPr>
        <p:spPr>
          <a:xfrm>
            <a:off x="548640" y="470916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NumBg 22"/>
          <p:cNvSpPr/>
          <p:nvPr/>
        </p:nvSpPr>
        <p:spPr>
          <a:xfrm>
            <a:off x="768096" y="496519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68096" y="497433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</a:p>
        </p:txBody>
      </p:sp>
      <p:sp>
        <p:nvSpPr>
          <p:cNvPr id="27" name="Text 24"/>
          <p:cNvSpPr/>
          <p:nvPr/>
        </p:nvSpPr>
        <p:spPr>
          <a:xfrm>
            <a:off x="1481328" y="487375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项目管理</a:t>
            </a:r>
          </a:p>
        </p:txBody>
      </p:sp>
      <p:sp>
        <p:nvSpPr>
          <p:cNvPr id="28" name="Text 25"/>
          <p:cNvSpPr/>
          <p:nvPr/>
        </p:nvSpPr>
        <p:spPr>
          <a:xfrm>
            <a:off x="1481328" y="534924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预算与 AI 成本 · 总体排期 · 里程碑时间轴 · 团队分工 · 阶段成果分工与贡献 · 任务级甘特图 · 团队绩效评价 · 会议纪要 · 质量与配置管理</a:t>
            </a:r>
          </a:p>
        </p:txBody>
      </p:sp>
      <p:sp>
        <p:nvSpPr>
          <p:cNvPr id="29" name="Shape 26"/>
          <p:cNvSpPr/>
          <p:nvPr/>
        </p:nvSpPr>
        <p:spPr>
          <a:xfrm>
            <a:off x="6263640" y="4709160"/>
            <a:ext cx="5349240" cy="1481328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30" name="NumBg 27"/>
          <p:cNvSpPr/>
          <p:nvPr/>
        </p:nvSpPr>
        <p:spPr>
          <a:xfrm>
            <a:off x="6483096" y="4965192"/>
            <a:ext cx="566928" cy="566928"/>
          </a:xfrm>
          <a:prstGeom prst="ellipse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31" name="Text 28"/>
          <p:cNvSpPr/>
          <p:nvPr/>
        </p:nvSpPr>
        <p:spPr>
          <a:xfrm>
            <a:off x="6483096" y="497433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</a:p>
        </p:txBody>
      </p:sp>
      <p:sp>
        <p:nvSpPr>
          <p:cNvPr id="32" name="Text 29"/>
          <p:cNvSpPr/>
          <p:nvPr/>
        </p:nvSpPr>
        <p:spPr>
          <a:xfrm>
            <a:off x="7196328" y="4873752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参考文献与总结</a:t>
            </a:r>
          </a:p>
        </p:txBody>
      </p:sp>
      <p:sp>
        <p:nvSpPr>
          <p:cNvPr id="33" name="Text 30"/>
          <p:cNvSpPr/>
          <p:nvPr/>
        </p:nvSpPr>
        <p:spPr>
          <a:xfrm>
            <a:off x="7196328" y="534924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 · 总结展望</a:t>
            </a:r>
          </a:p>
        </p:txBody>
      </p:sp>
      <p:sp>
        <p:nvSpPr>
          <p:cNvPr id="34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35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现实痛点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37360" y="1828800"/>
            <a:ext cx="1005840" cy="1005840"/>
          </a:xfrm>
          <a:prstGeom prst="ellipse">
            <a:avLst/>
          </a:prstGeom>
          <a:solidFill>
            <a:srgbClr val="EEF2FF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737360" y="1828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取快递难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370332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88620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校园面积大，快递点分散在不同校区。高峰期排队时间长，很多同学因课业繁忙无法及时取件，包裹滞留甚至丢失的情况时有发生。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[1]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1828800"/>
            <a:ext cx="1005840" cy="100584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12" name="Text 10"/>
          <p:cNvSpPr/>
          <p:nvPr/>
        </p:nvSpPr>
        <p:spPr>
          <a:xfrm>
            <a:off x="5440680" y="1828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二手教材获取难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983480" y="370332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88620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每学期教材费用高昂，但缺少可靠的校内二手交易渠道。现有平台信息杂乱、可信度低，同学之间缺乏高效对接方式。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1371600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828800"/>
            <a:ext cx="1005840" cy="100584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18" name="Text 16"/>
          <p:cNvSpPr/>
          <p:nvPr/>
        </p:nvSpPr>
        <p:spPr>
          <a:xfrm>
            <a:off x="9144000" y="1828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83880" y="31089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缺少校内互助渠道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0" y="3703320"/>
            <a:ext cx="1920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8620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同学间互助需求旺盛，但缺少实名可信赖的平台。微信群消息碎片化、无信誉积累、交易无保障，需求无法被有效匹配。</a:t>
            </a:r>
            <a:endParaRPr lang="en-US" sz="1400" dirty="0"/>
          </a:p>
        </p:txBody>
      </p:sp>
      <p:sp>
        <p:nvSpPr>
          <p:cNvPr id="2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目标用户与使用场景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仅服务本校实名学生；单个校区目标用户规模约 1.5 万人。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3538728" cy="3931920"/>
          </a:xfrm>
          <a:prstGeom prst="roundRect">
            <a:avLst>
              <a:gd name="adj" fmla="val 36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49808" y="1700784"/>
            <a:ext cx="313639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7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核心用户</a:t>
            </a:r>
          </a:p>
        </p:txBody>
      </p:sp>
      <p:sp>
        <p:nvSpPr>
          <p:cNvPr id="7" name="Shape 6"/>
          <p:cNvSpPr/>
          <p:nvPr/>
        </p:nvSpPr>
        <p:spPr>
          <a:xfrm>
            <a:off x="868680" y="2176272"/>
            <a:ext cx="2898648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22960" y="2304288"/>
            <a:ext cx="2990088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大一大二：课程密集，取件时间与上课冲突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大三大四：考研实习，在校时间碎片化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研究生：以实验室为主，常需他人代取</a:t>
            </a:r>
          </a:p>
        </p:txBody>
      </p:sp>
      <p:sp>
        <p:nvSpPr>
          <p:cNvPr id="9" name="Shape 8"/>
          <p:cNvSpPr/>
          <p:nvPr/>
        </p:nvSpPr>
        <p:spPr>
          <a:xfrm>
            <a:off x="4325112" y="1572768"/>
            <a:ext cx="3538728" cy="3931920"/>
          </a:xfrm>
          <a:prstGeom prst="roundRect">
            <a:avLst>
              <a:gd name="adj" fmla="val 36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4526280" y="1700784"/>
            <a:ext cx="313639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7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典型场景</a:t>
            </a:r>
          </a:p>
        </p:txBody>
      </p:sp>
      <p:sp>
        <p:nvSpPr>
          <p:cNvPr id="11" name="Shape 10"/>
          <p:cNvSpPr/>
          <p:nvPr/>
        </p:nvSpPr>
        <p:spPr>
          <a:xfrm>
            <a:off x="4645152" y="2176272"/>
            <a:ext cx="2898648" cy="0"/>
          </a:xfrm>
          <a:prstGeom prst="line">
            <a:avLst/>
          </a:prstGeom>
          <a:noFill/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4599432" y="2304288"/>
            <a:ext cx="2990088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上课 / 实习与快递点营业时间冲突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雨天、大件包裹、多件包裹搬运困难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生病或临时有事无法及时取件</a:t>
            </a:r>
          </a:p>
        </p:txBody>
      </p:sp>
      <p:sp>
        <p:nvSpPr>
          <p:cNvPr id="13" name="Shape 12"/>
          <p:cNvSpPr/>
          <p:nvPr/>
        </p:nvSpPr>
        <p:spPr>
          <a:xfrm>
            <a:off x="8101584" y="1572768"/>
            <a:ext cx="3538728" cy="3931920"/>
          </a:xfrm>
          <a:prstGeom prst="roundRect">
            <a:avLst>
              <a:gd name="adj" fmla="val 36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4" name="Text 13"/>
          <p:cNvSpPr/>
          <p:nvPr/>
        </p:nvSpPr>
        <p:spPr>
          <a:xfrm>
            <a:off x="8302752" y="1700784"/>
            <a:ext cx="313639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7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使用动机</a:t>
            </a:r>
          </a:p>
        </p:txBody>
      </p:sp>
      <p:sp>
        <p:nvSpPr>
          <p:cNvPr id="15" name="Shape 14"/>
          <p:cNvSpPr/>
          <p:nvPr/>
        </p:nvSpPr>
        <p:spPr>
          <a:xfrm>
            <a:off x="8421624" y="2176272"/>
            <a:ext cx="2898648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5"/>
          <p:cNvSpPr/>
          <p:nvPr/>
        </p:nvSpPr>
        <p:spPr>
          <a:xfrm>
            <a:off x="8375904" y="2304288"/>
            <a:ext cx="2990088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帮人取件赚积分，用积分换教材省开支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校内实名认证，比校外平台更可信</a:t>
            </a:r>
          </a:p>
          <a:p>
            <a:pPr>
              <a:lnSpc>
                <a:spcPct val="130000"/>
              </a:lnSpc>
              <a:spcAft>
                <a:spcPts val="1100"/>
              </a:spcAft>
              <a:buNone/>
            </a:pP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全程不涉及现金，无心理与合规负担</a:t>
            </a:r>
          </a:p>
        </p:txBody>
      </p:sp>
      <p:sp>
        <p:nvSpPr>
          <p:cNvPr id="17" name="Shape 16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8" name="Text 17"/>
          <p:cNvSpPr/>
          <p:nvPr/>
        </p:nvSpPr>
        <p:spPr>
          <a:xfrm>
            <a:off x="868680" y="573328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闭环逻辑：没有现金来源的学生也能通过“帮人取件”换取教材 —— 这是本产品最核心的差异点</a:t>
            </a:r>
          </a:p>
        </p:txBody>
      </p:sp>
      <p:sp>
        <p:nvSpPr>
          <p:cNvPr id="19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0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需求规模与验证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单校区市场容量测算与低成本验证方法。</a:t>
            </a:r>
          </a:p>
        </p:txBody>
      </p:sp>
      <p:pic>
        <p:nvPicPr>
          <p:cNvPr id="5" name="Picture 4" descr="ppt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84" y="1554480"/>
            <a:ext cx="8277726" cy="39319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68680" y="577900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验证方式：问卷 ≥200 份 ｜ 群内需求/成交观察 ｜ 人工撮合灰度 2 周 ｜ 快递点与楼管访谈</a:t>
            </a:r>
          </a:p>
        </p:txBody>
      </p:sp>
      <p:sp>
        <p:nvSpPr>
          <p:cNvPr id="10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1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3716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22960" y="18288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645920" y="1371600"/>
            <a:ext cx="20116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任务集市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3611880" y="1600200"/>
            <a:ext cx="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3840480" y="1371600"/>
            <a:ext cx="74980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用户发布"帮取快递"或"求购教材"需求，其他同学浏览并接单，实现供需双方快速匹配，让校园互助变得简单高效。</a:t>
            </a:r>
            <a:endParaRPr lang="en-US" sz="14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48640" y="30632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22960" y="3520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1645920" y="3063240"/>
            <a:ext cx="20116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信誉体系</a:t>
            </a:r>
            <a:endParaRPr lang="en-US" sz="2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3611880" y="3291840"/>
            <a:ext cx="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3840480" y="3063240"/>
            <a:ext cx="74980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完成后双方互评，积累个人信誉积分。高信誉用户获得更多曝光和接单优先权，形成正向循环，确保服务质量。</a:t>
            </a:r>
            <a:endParaRPr lang="en-US" sz="14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548640" y="47548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2960" y="52120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645920" y="4754880"/>
            <a:ext cx="20116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校园专属</a:t>
            </a:r>
            <a:endParaRPr lang="en-US" sz="220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3611880" y="4983480"/>
            <a:ext cx="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3840480" y="4754880"/>
            <a:ext cx="749808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仅限校内实名用户使用，保障交易安全与信任。快递代取与二手教材两大品类独立分区，信息清晰不混淆。</a:t>
            </a:r>
            <a:endParaRPr lang="en-US" sz="1400" dirty="0"/>
          </a:p>
        </p:txBody>
      </p:sp>
      <p:sp>
        <p:nvSpPr>
          <p:cNvPr id="2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发布与接单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一键发布：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选择"帮取快递"或"求购教材"类型，填写详情后即可发布需求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地图导航：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接入地图 API，显示取件点到宿舍楼的步行距离与预计时间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智能匹配：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根据位置、时间和信誉分推荐最合适的接单人选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实时通知：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订单状态变更时通过小程序消息或短信即时推送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55448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信誉与保障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33172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实名注册：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校内身份认证，确保每位用户真实可信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双向评价：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任务完成后双方互评打分，积累个人信誉档案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积分机制：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完成任务获得积分，可模拟押金保障交易安全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投诉处理：</a:t>
            </a: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提供申诉通道，对低信誉用户进行限制和处罚</a:t>
            </a:r>
            <a:endParaRPr lang="en-US" sz="1400" dirty="0"/>
          </a:p>
        </p:txBody>
      </p:sp>
      <p:sp>
        <p:nvSpPr>
          <p:cNvPr id="1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积分体系设计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积分是平台唯一的交易媒介，规则设计决定平台能否长期健康运转。</a:t>
            </a:r>
          </a:p>
        </p:txBody>
      </p:sp>
      <p:pic>
        <p:nvPicPr>
          <p:cNvPr id="5" name="Picture 4" descr="ppt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8" y="1536192"/>
            <a:ext cx="8915400" cy="356616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548640" y="5230368"/>
            <a:ext cx="534924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77240" y="5321808"/>
            <a:ext cx="489204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积分获取：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完成代取 +8~15（按重量/距离浮动）、发布教材成交按书价转入、签到 +1~5（设每日上限）</a:t>
            </a:r>
          </a:p>
        </p:txBody>
      </p:sp>
      <p:sp>
        <p:nvSpPr>
          <p:cNvPr id="7" name="Shape 6"/>
          <p:cNvSpPr/>
          <p:nvPr/>
        </p:nvSpPr>
        <p:spPr>
          <a:xfrm>
            <a:off x="6263640" y="5230368"/>
            <a:ext cx="534924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8" name="Text 7"/>
          <p:cNvSpPr/>
          <p:nvPr/>
        </p:nvSpPr>
        <p:spPr>
          <a:xfrm>
            <a:off x="6492240" y="5321808"/>
            <a:ext cx="489204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积分消耗：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代取 −8~15、购教材 − 书价、违约与超时扣分、平台服务费抽成进入回收池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核心业务流程与订单状态机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订单状态由服务端统一校验，防止非法流转与积分错账。</a:t>
            </a:r>
          </a:p>
        </p:txBody>
      </p:sp>
      <p:pic>
        <p:nvPicPr>
          <p:cNvPr id="5" name="Picture 4" descr="ppt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0" y="1554480"/>
            <a:ext cx="9556955" cy="329184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48640" y="4956048"/>
            <a:ext cx="3538728" cy="1389888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77240" y="5047488"/>
            <a:ext cx="3081528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并发一致性</a:t>
            </a:r>
          </a:p>
          <a:p>
            <a:pPr>
              <a:lnSpc>
                <a:spcPct val="12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积分采用冻结/解冻两段式扣减，配合幂等键，防止重复扣分</a:t>
            </a:r>
          </a:p>
        </p:txBody>
      </p:sp>
      <p:sp>
        <p:nvSpPr>
          <p:cNvPr id="7" name="Shape 6"/>
          <p:cNvSpPr/>
          <p:nvPr/>
        </p:nvSpPr>
        <p:spPr>
          <a:xfrm>
            <a:off x="4325112" y="4956048"/>
            <a:ext cx="3538728" cy="1389888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8" name="Text 7"/>
          <p:cNvSpPr/>
          <p:nvPr/>
        </p:nvSpPr>
        <p:spPr>
          <a:xfrm>
            <a:off x="4553712" y="5047488"/>
            <a:ext cx="3081528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None/>
            </a:pPr>
            <a:r>
              <a:rPr lang="zh-CN" sz="13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凭证留痕</a:t>
            </a:r>
          </a:p>
          <a:p>
            <a:pPr>
              <a:lnSpc>
                <a:spcPct val="12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取件凭证拍照上传云存储，图片设访问有效期</a:t>
            </a:r>
          </a:p>
        </p:txBody>
      </p:sp>
      <p:sp>
        <p:nvSpPr>
          <p:cNvPr id="9" name="Shape 8"/>
          <p:cNvSpPr/>
          <p:nvPr/>
        </p:nvSpPr>
        <p:spPr>
          <a:xfrm>
            <a:off x="8101584" y="4956048"/>
            <a:ext cx="3511296" cy="1389888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8330184" y="5047488"/>
            <a:ext cx="305409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None/>
            </a:pPr>
            <a:r>
              <a:rPr lang="zh-CN" sz="13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异常兜底</a:t>
            </a:r>
          </a:p>
          <a:p>
            <a:pPr>
              <a:lnSpc>
                <a:spcPct val="12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超时未确认自动流转并扣信用分，小额争议由积分池兜底</a:t>
            </a:r>
          </a:p>
        </p:txBody>
      </p:sp>
      <p:sp>
        <p:nvSpPr>
          <p:cNvPr id="14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5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界面原型示意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MVP 阶段聚焦三屏核心流程，降低开发与学习成本。</a:t>
            </a:r>
          </a:p>
        </p:txBody>
      </p:sp>
      <p:pic>
        <p:nvPicPr>
          <p:cNvPr id="5" name="Picture 4" descr="pp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8" y="1554480"/>
            <a:ext cx="7772400" cy="39319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68680" y="577900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设计原则：一屏一件事 ｜ 积分明示 ｜ 状态可见 ｜ 关键操作二次确认</a:t>
            </a:r>
          </a:p>
        </p:txBody>
      </p:sp>
      <p:sp>
        <p:nvSpPr>
          <p:cNvPr id="10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1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竞品对比与差异化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不与全国性平台正面竞争，而是做深单校区、零现金的校内闭环。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5349240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04672" y="1700784"/>
            <a:ext cx="483717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 QQ / 微信群</a:t>
            </a:r>
          </a:p>
        </p:txBody>
      </p:sp>
      <p:sp>
        <p:nvSpPr>
          <p:cNvPr id="7" name="Shape 6"/>
          <p:cNvSpPr/>
          <p:nvPr/>
        </p:nvSpPr>
        <p:spPr>
          <a:xfrm>
            <a:off x="804672" y="2157984"/>
            <a:ext cx="483717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04672" y="2231136"/>
            <a:ext cx="483717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(5, 150, 105)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免费、就在群里</a:t>
            </a:r>
          </a:p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刷屏漏单、无信用记录、纠纷无凭据</a:t>
            </a:r>
          </a:p>
        </p:txBody>
      </p:sp>
      <p:sp>
        <p:nvSpPr>
          <p:cNvPr id="9" name="Shape 8"/>
          <p:cNvSpPr/>
          <p:nvPr/>
        </p:nvSpPr>
        <p:spPr>
          <a:xfrm>
            <a:off x="6263640" y="1572768"/>
            <a:ext cx="5349240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6519672" y="1700784"/>
            <a:ext cx="483717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闲鱼 / 转转</a:t>
            </a:r>
          </a:p>
        </p:txBody>
      </p:sp>
      <p:sp>
        <p:nvSpPr>
          <p:cNvPr id="11" name="Shape 10"/>
          <p:cNvSpPr/>
          <p:nvPr/>
        </p:nvSpPr>
        <p:spPr>
          <a:xfrm>
            <a:off x="6519672" y="2157984"/>
            <a:ext cx="483717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6519672" y="2231136"/>
            <a:ext cx="483717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(5, 150, 105)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全国覆盖、可交易</a:t>
            </a:r>
          </a:p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以现金计价、需邮寄、校内面交体验差</a:t>
            </a:r>
          </a:p>
        </p:txBody>
      </p:sp>
      <p:sp>
        <p:nvSpPr>
          <p:cNvPr id="13" name="Shape 12"/>
          <p:cNvSpPr/>
          <p:nvPr/>
        </p:nvSpPr>
        <p:spPr>
          <a:xfrm>
            <a:off x="548640" y="3529584"/>
            <a:ext cx="5349240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4" name="Text 13"/>
          <p:cNvSpPr/>
          <p:nvPr/>
        </p:nvSpPr>
        <p:spPr>
          <a:xfrm>
            <a:off x="804672" y="3657600"/>
            <a:ext cx="483717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多抓鱼 / 孔夫子</a:t>
            </a:r>
          </a:p>
        </p:txBody>
      </p:sp>
      <p:sp>
        <p:nvSpPr>
          <p:cNvPr id="15" name="Shape 14"/>
          <p:cNvSpPr/>
          <p:nvPr/>
        </p:nvSpPr>
        <p:spPr>
          <a:xfrm>
            <a:off x="804672" y="4114800"/>
            <a:ext cx="483717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5"/>
          <p:cNvSpPr/>
          <p:nvPr/>
        </p:nvSpPr>
        <p:spPr>
          <a:xfrm>
            <a:off x="804672" y="4187952"/>
            <a:ext cx="483717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(5, 150, 105)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二手书垂直</a:t>
            </a:r>
          </a:p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回收价低、教材品类覆盖差、周期长</a:t>
            </a:r>
          </a:p>
        </p:txBody>
      </p:sp>
      <p:sp>
        <p:nvSpPr>
          <p:cNvPr id="17" name="Shape 16"/>
          <p:cNvSpPr/>
          <p:nvPr/>
        </p:nvSpPr>
        <p:spPr>
          <a:xfrm>
            <a:off x="6263640" y="3529584"/>
            <a:ext cx="5349240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8" name="Text 17"/>
          <p:cNvSpPr/>
          <p:nvPr/>
        </p:nvSpPr>
        <p:spPr>
          <a:xfrm>
            <a:off x="6519672" y="3657600"/>
            <a:ext cx="483717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菜鸟 / 官方代取</a:t>
            </a:r>
          </a:p>
        </p:txBody>
      </p:sp>
      <p:sp>
        <p:nvSpPr>
          <p:cNvPr id="19" name="Shape 18"/>
          <p:cNvSpPr/>
          <p:nvPr/>
        </p:nvSpPr>
        <p:spPr>
          <a:xfrm>
            <a:off x="6519672" y="4114800"/>
            <a:ext cx="483717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9"/>
          <p:cNvSpPr/>
          <p:nvPr/>
        </p:nvSpPr>
        <p:spPr>
          <a:xfrm>
            <a:off x="6519672" y="4187952"/>
            <a:ext cx="483717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sz="1150" b="1" dirty="0">
                <a:solidFill>
                  <a:srgbClr val="(5, 150, 105)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有平台保障</a:t>
            </a:r>
          </a:p>
          <a:p>
            <a:pPr>
              <a:lnSpc>
                <a:spcPct val="125000"/>
              </a:lnSpc>
              <a:buNone/>
            </a:pPr>
            <a:r>
              <a:rPr lang="zh-CN" sz="11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校园覆盖不均、仍需现金付费</a:t>
            </a:r>
          </a:p>
        </p:txBody>
      </p:sp>
      <p:sp>
        <p:nvSpPr>
          <p:cNvPr id="21" name="Shape 20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2" name="Text 21"/>
          <p:cNvSpPr/>
          <p:nvPr/>
        </p:nvSpPr>
        <p:spPr>
          <a:xfrm>
            <a:off x="868680" y="568756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差异化壁垒：校内实名身份 + 积分闭环 + 履约信用数据，三者叠加形成本地网络效应</a:t>
            </a:r>
          </a:p>
        </p:txBody>
      </p:sp>
      <p:sp>
        <p:nvSpPr>
          <p:cNvPr id="23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4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EEF2FF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3716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 + 云开发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0" cy="731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00600" y="137160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借助低代码平台快速搭建发布与接单界面，降低开发门槛，实现快速迭代上线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[2]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EEF2FF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地图 API 集成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2880360"/>
            <a:ext cx="0" cy="731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00600" y="269748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显示取件点和宿舍楼之间的步行距离，帮助用户快速判断接单可行性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[2]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EF2FF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02336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消息推送通知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4206240"/>
            <a:ext cx="0" cy="731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00600" y="402336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通过小程序消息推送或短信通知，订单状态变更时实时通知双方用户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[2]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62356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sp>
        <p:nvSpPr>
          <p:cNvPr id="24" name="Text 22"/>
          <p:cNvSpPr/>
          <p:nvPr/>
        </p:nvSpPr>
        <p:spPr>
          <a:xfrm>
            <a:off x="822960" y="5623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53492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积分与押金机制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5532120"/>
            <a:ext cx="0" cy="731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534924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模拟积分或押金体系保障交易安全，无需接入真实支付接口，降低初期复杂度</a:t>
            </a:r>
            <a:endParaRPr lang="en-US" sz="1400" dirty="0"/>
          </a:p>
        </p:txBody>
      </p:sp>
      <p:sp>
        <p:nvSpPr>
          <p:cNvPr id="28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9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客户端与云函数职责清晰，数据层集中管理，便于两人分工并行开发。</a:t>
            </a:r>
          </a:p>
        </p:txBody>
      </p:sp>
      <p:pic>
        <p:nvPicPr>
          <p:cNvPr id="5" name="Picture 4" descr="ppt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8" y="1554480"/>
            <a:ext cx="9144000" cy="4572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7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运营策略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145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0" y="155448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57400" y="15544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用户获取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2057400"/>
            <a:ext cx="93268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通过邀请好友获得积分奖励、招募校园大使等方式，快速积累种子用户，实现低成本裂变增长。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[8]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4061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828800" y="324612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2461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服务保障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3749040"/>
            <a:ext cx="93268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利用用户评价和信誉积分维护平台秩序，及时处置纠纷，保障每一次互助的服务质量和用户体验。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0977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828800" y="4937760"/>
            <a:ext cx="0" cy="1143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49377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积分经济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57400" y="5440680"/>
            <a:ext cx="93268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完成任务积累积分可兑换权益或享受平台特权，形成"越活跃越受益"的正向循环，提升用户黏性。</a:t>
            </a:r>
            <a:endParaRPr lang="en-US" sz="1400" dirty="0"/>
          </a:p>
        </p:txBody>
      </p:sp>
      <p:sp>
        <p:nvSpPr>
          <p:cNvPr id="19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20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运营推广路径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双边市场冷启动的关键是顺序：必须先保证“有人接单”，再大规模拉需求端。</a:t>
            </a:r>
          </a:p>
        </p:txBody>
      </p:sp>
      <p:pic>
        <p:nvPicPr>
          <p:cNvPr id="5" name="Picture 4" descr="ppt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8" y="1664208"/>
            <a:ext cx="10972800" cy="43891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7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225296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从需求、技术、经济、运营、合规五个维度评估项目是否值得立项。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664208"/>
            <a:ext cx="2066544" cy="301752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658368" y="1810512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需求可行性</a:t>
            </a:r>
          </a:p>
        </p:txBody>
      </p:sp>
      <p:sp>
        <p:nvSpPr>
          <p:cNvPr id="7" name="Pill 6"/>
          <p:cNvSpPr/>
          <p:nvPr/>
        </p:nvSpPr>
        <p:spPr>
          <a:xfrm>
            <a:off x="658368" y="2231136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658368" y="224942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0478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可行（强）</a:t>
            </a:r>
          </a:p>
        </p:txBody>
      </p:sp>
      <p:sp>
        <p:nvSpPr>
          <p:cNvPr id="9" name="Text 8"/>
          <p:cNvSpPr/>
          <p:nvPr/>
        </p:nvSpPr>
        <p:spPr>
          <a:xfrm>
            <a:off x="676656" y="2724912"/>
            <a:ext cx="181051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快递“最后 100 米”与教材学期性闲置是真实、高频且可低成本验证的痛点。</a:t>
            </a:r>
          </a:p>
        </p:txBody>
      </p:sp>
      <p:sp>
        <p:nvSpPr>
          <p:cNvPr id="10" name="Shape 9"/>
          <p:cNvSpPr/>
          <p:nvPr/>
        </p:nvSpPr>
        <p:spPr>
          <a:xfrm>
            <a:off x="2798064" y="1664208"/>
            <a:ext cx="2066544" cy="301752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1" name="Text 10"/>
          <p:cNvSpPr/>
          <p:nvPr/>
        </p:nvSpPr>
        <p:spPr>
          <a:xfrm>
            <a:off x="2907792" y="1810512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</a:p>
        </p:txBody>
      </p:sp>
      <p:sp>
        <p:nvSpPr>
          <p:cNvPr id="12" name="Pill 11"/>
          <p:cNvSpPr/>
          <p:nvPr/>
        </p:nvSpPr>
        <p:spPr>
          <a:xfrm>
            <a:off x="2907792" y="2231136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2907792" y="224942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0478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可行（强）</a:t>
            </a:r>
          </a:p>
        </p:txBody>
      </p:sp>
      <p:sp>
        <p:nvSpPr>
          <p:cNvPr id="14" name="Text 13"/>
          <p:cNvSpPr/>
          <p:nvPr/>
        </p:nvSpPr>
        <p:spPr>
          <a:xfrm>
            <a:off x="2926080" y="2724912"/>
            <a:ext cx="181051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 + 云开发可覆盖全部核心功能，1~2 人 4~8 周即可交付 MVP。</a:t>
            </a:r>
          </a:p>
        </p:txBody>
      </p:sp>
      <p:sp>
        <p:nvSpPr>
          <p:cNvPr id="15" name="Shape 14"/>
          <p:cNvSpPr/>
          <p:nvPr/>
        </p:nvSpPr>
        <p:spPr>
          <a:xfrm>
            <a:off x="5047488" y="1664208"/>
            <a:ext cx="2066544" cy="301752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6" name="Text 15"/>
          <p:cNvSpPr/>
          <p:nvPr/>
        </p:nvSpPr>
        <p:spPr>
          <a:xfrm>
            <a:off x="5157216" y="1810512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经济可行性</a:t>
            </a:r>
          </a:p>
        </p:txBody>
      </p:sp>
      <p:sp>
        <p:nvSpPr>
          <p:cNvPr id="17" name="Pill 16"/>
          <p:cNvSpPr/>
          <p:nvPr/>
        </p:nvSpPr>
        <p:spPr>
          <a:xfrm>
            <a:off x="5157216" y="2231136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7"/>
          <p:cNvSpPr/>
          <p:nvPr/>
        </p:nvSpPr>
        <p:spPr>
          <a:xfrm>
            <a:off x="5157216" y="224942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有条件可行</a:t>
            </a:r>
          </a:p>
        </p:txBody>
      </p:sp>
      <p:sp>
        <p:nvSpPr>
          <p:cNvPr id="19" name="Text 18"/>
          <p:cNvSpPr/>
          <p:nvPr/>
        </p:nvSpPr>
        <p:spPr>
          <a:xfrm>
            <a:off x="5175504" y="2724912"/>
            <a:ext cx="181051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现金成本千元级/年，但必须接受“非营利、覆盖成本”的定位。</a:t>
            </a:r>
          </a:p>
        </p:txBody>
      </p:sp>
      <p:sp>
        <p:nvSpPr>
          <p:cNvPr id="20" name="Shape 19"/>
          <p:cNvSpPr/>
          <p:nvPr/>
        </p:nvSpPr>
        <p:spPr>
          <a:xfrm>
            <a:off x="7296912" y="1664208"/>
            <a:ext cx="2066544" cy="301752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1" name="Text 20"/>
          <p:cNvSpPr/>
          <p:nvPr/>
        </p:nvSpPr>
        <p:spPr>
          <a:xfrm>
            <a:off x="7406640" y="1810512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运营可行性</a:t>
            </a:r>
          </a:p>
        </p:txBody>
      </p:sp>
      <p:sp>
        <p:nvSpPr>
          <p:cNvPr id="22" name="Pill 21"/>
          <p:cNvSpPr/>
          <p:nvPr/>
        </p:nvSpPr>
        <p:spPr>
          <a:xfrm>
            <a:off x="7406640" y="2231136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2"/>
          <p:cNvSpPr/>
          <p:nvPr/>
        </p:nvSpPr>
        <p:spPr>
          <a:xfrm>
            <a:off x="7406640" y="224942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中等风险</a:t>
            </a:r>
          </a:p>
        </p:txBody>
      </p:sp>
      <p:sp>
        <p:nvSpPr>
          <p:cNvPr id="24" name="Text 23"/>
          <p:cNvSpPr/>
          <p:nvPr/>
        </p:nvSpPr>
        <p:spPr>
          <a:xfrm>
            <a:off x="7424928" y="2724912"/>
            <a:ext cx="181051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双边市场冷启动是最大变数，成败取决于供给端与履约质量。</a:t>
            </a:r>
          </a:p>
        </p:txBody>
      </p:sp>
      <p:sp>
        <p:nvSpPr>
          <p:cNvPr id="25" name="Shape 24"/>
          <p:cNvSpPr/>
          <p:nvPr/>
        </p:nvSpPr>
        <p:spPr>
          <a:xfrm>
            <a:off x="9546336" y="1664208"/>
            <a:ext cx="2066544" cy="3017520"/>
          </a:xfrm>
          <a:prstGeom prst="roundRect">
            <a:avLst>
              <a:gd name="adj" fmla="val 61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6" name="Text 25"/>
          <p:cNvSpPr/>
          <p:nvPr/>
        </p:nvSpPr>
        <p:spPr>
          <a:xfrm>
            <a:off x="9656064" y="1810512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合规可行性</a:t>
            </a:r>
          </a:p>
        </p:txBody>
      </p:sp>
      <p:sp>
        <p:nvSpPr>
          <p:cNvPr id="27" name="Pill 26"/>
          <p:cNvSpPr/>
          <p:nvPr/>
        </p:nvSpPr>
        <p:spPr>
          <a:xfrm>
            <a:off x="9656064" y="2231136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7"/>
          <p:cNvSpPr/>
          <p:nvPr/>
        </p:nvSpPr>
        <p:spPr>
          <a:xfrm>
            <a:off x="9656064" y="224942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有条件可行</a:t>
            </a:r>
          </a:p>
        </p:txBody>
      </p:sp>
      <p:sp>
        <p:nvSpPr>
          <p:cNvPr id="29" name="Text 28"/>
          <p:cNvSpPr/>
          <p:nvPr/>
        </p:nvSpPr>
        <p:spPr>
          <a:xfrm>
            <a:off x="9674352" y="2724912"/>
            <a:ext cx="181051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守住“积分不可双向兑现金”红线，并先行确认主体资质。</a:t>
            </a:r>
          </a:p>
        </p:txBody>
      </p:sp>
      <p:sp>
        <p:nvSpPr>
          <p:cNvPr id="30" name="Shape 29"/>
          <p:cNvSpPr/>
          <p:nvPr/>
        </p:nvSpPr>
        <p:spPr>
          <a:xfrm>
            <a:off x="548640" y="4846320"/>
            <a:ext cx="11064240" cy="1444752"/>
          </a:xfrm>
          <a:prstGeom prst="roundRect">
            <a:avLst>
              <a:gd name="adj" fmla="val 1012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31" name="Text 30"/>
          <p:cNvSpPr/>
          <p:nvPr/>
        </p:nvSpPr>
        <p:spPr>
          <a:xfrm>
            <a:off x="914400" y="4992624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总体结论：值得立项</a:t>
            </a:r>
          </a:p>
        </p:txBody>
      </p:sp>
      <p:sp>
        <p:nvSpPr>
          <p:cNvPr id="32" name="Text 31"/>
          <p:cNvSpPr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buNone/>
            </a:pPr>
            <a:r>
              <a:rPr lang="zh-CN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需求与技术强可行，经济与合规属“有条件可行”，成败关键在运营冷启动。建议定位为校内公益互助平台：先单校区小范围试点，验证积分闭环真正运转后再谈推广。</a:t>
            </a:r>
          </a:p>
        </p:txBody>
      </p:sp>
      <p:sp>
        <p:nvSpPr>
          <p:cNvPr id="33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34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 · 技术与经济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Shape 3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Text 4"/>
          <p:cNvSpPr/>
          <p:nvPr/>
        </p:nvSpPr>
        <p:spPr>
          <a:xfrm>
            <a:off x="822960" y="15544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</a:p>
        </p:txBody>
      </p:sp>
      <p:sp>
        <p:nvSpPr>
          <p:cNvPr id="6" name="Shape 5"/>
          <p:cNvSpPr/>
          <p:nvPr/>
        </p:nvSpPr>
        <p:spPr>
          <a:xfrm>
            <a:off x="822960" y="2148840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6"/>
          <p:cNvSpPr/>
          <p:nvPr/>
        </p:nvSpPr>
        <p:spPr>
          <a:xfrm>
            <a:off x="822960" y="2331720"/>
            <a:ext cx="480060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 + 云开发（云函数 / 云数据库 / 云存储），免运维、免域名备案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[2]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核心链路：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wx.login 换取 openid → 实名认证 → 订单状态机 → 积分账本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技术难点：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积分并发一致性（冻结 / 解冻两段式）、防刷单、订阅消息触达次数受限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实现难度：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取件凭证人工核验可替代快递查询 API，MVP 阶段无需第三方付费接口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无技术门槛，1~2 人 4~8 周可交付，技术不构成项目壁垒</a:t>
            </a:r>
          </a:p>
        </p:txBody>
      </p:sp>
      <p:sp>
        <p:nvSpPr>
          <p:cNvPr id="8" name="Shape 7"/>
          <p:cNvSpPr/>
          <p:nvPr/>
        </p:nvSpPr>
        <p:spPr>
          <a:xfrm>
            <a:off x="6263640" y="1371600"/>
            <a:ext cx="5349240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8"/>
          <p:cNvSpPr/>
          <p:nvPr/>
        </p:nvSpPr>
        <p:spPr>
          <a:xfrm>
            <a:off x="6537960" y="15544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2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经济可行性</a:t>
            </a:r>
          </a:p>
        </p:txBody>
      </p:sp>
      <p:sp>
        <p:nvSpPr>
          <p:cNvPr id="10" name="Shape 9"/>
          <p:cNvSpPr/>
          <p:nvPr/>
        </p:nvSpPr>
        <p:spPr>
          <a:xfrm>
            <a:off x="6537960" y="2148840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10"/>
          <p:cNvSpPr/>
          <p:nvPr/>
        </p:nvSpPr>
        <p:spPr>
          <a:xfrm>
            <a:off x="6537960" y="2331720"/>
            <a:ext cx="480060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成本结构：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小程序认证 300 元/年 + 云开发免费额度 + 0 支付通道</a:t>
            </a:r>
            <a:r>
              <a:rPr sz="1000" b="1">
                <a:solidFill>
                  <a:srgbClr val="4F46E5"/>
                </a:solidFill>
                <a:latin typeface="微软雅黑"/>
              </a:rPr>
              <a:t>[3]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现金投入：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自研模式下可控制在千元级/年，不存在资金池与垫资风险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收益路径：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校园商家广告、学校经费与志愿时长支持、社团活动合作赞助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定位红线：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不售卖积分、不抽成现金，目标是“覆盖成本”而非产生利润</a:t>
            </a:r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lr>
                <a:srgbClr val="4F46E5"/>
              </a:buClr>
              <a:buFont typeface="Arial"/>
              <a:buChar char="▸"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zh-CN" sz="14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低成本非营利定位下经济可行，以盈利为目标则模式不成立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 · 合规红线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积分只在校内单向流通，不与人民币或实物形成双向兑换 —— 这是项目性质的分界线。</a:t>
            </a:r>
          </a:p>
        </p:txBody>
      </p:sp>
      <p:pic>
        <p:nvPicPr>
          <p:cNvPr id="5" name="Picture 4" descr="ppt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48" y="1572768"/>
            <a:ext cx="9067800" cy="41605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815584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68680" y="5824728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15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配套合规三项：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主体资质（企业/个体户）· 隐私政策（个人信息保护法）· 教材版权（仅限正版纸质书，禁止电子版与翻印版）</a:t>
            </a:r>
          </a:p>
        </p:txBody>
      </p:sp>
      <p:sp>
        <p:nvSpPr>
          <p:cNvPr id="10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1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 · 风险与对策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共识别 8 类风险，按“发生可能性 × 影响程度”分级管控。</a:t>
            </a:r>
          </a:p>
        </p:txBody>
      </p:sp>
      <p:pic>
        <p:nvPicPr>
          <p:cNvPr id="5" name="Picture 4" descr="ppt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51" y="1554480"/>
            <a:ext cx="6626994" cy="370332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48640" y="5358384"/>
            <a:ext cx="353872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31520" y="5413248"/>
            <a:ext cx="317296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资质风险　</a:t>
            </a: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阶段确认主体路径，作为立项一票否决前置条件</a:t>
            </a:r>
          </a:p>
        </p:txBody>
      </p:sp>
      <p:sp>
        <p:nvSpPr>
          <p:cNvPr id="7" name="Shape 6"/>
          <p:cNvSpPr/>
          <p:nvPr/>
        </p:nvSpPr>
        <p:spPr>
          <a:xfrm>
            <a:off x="4325112" y="5358384"/>
            <a:ext cx="353872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8" name="Text 7"/>
          <p:cNvSpPr/>
          <p:nvPr/>
        </p:nvSpPr>
        <p:spPr>
          <a:xfrm>
            <a:off x="4507992" y="5413248"/>
            <a:ext cx="317296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进度风险　</a:t>
            </a: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范围锁定 MVP，W10–W11 峰值周例会加密为两次</a:t>
            </a:r>
          </a:p>
        </p:txBody>
      </p:sp>
      <p:sp>
        <p:nvSpPr>
          <p:cNvPr id="9" name="Shape 8"/>
          <p:cNvSpPr/>
          <p:nvPr/>
        </p:nvSpPr>
        <p:spPr>
          <a:xfrm>
            <a:off x="8101584" y="5358384"/>
            <a:ext cx="353872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8284464" y="5413248"/>
            <a:ext cx="317296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运营风险　</a:t>
            </a: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先补贴供给端，保证需求发布后 30 分钟内有人接单</a:t>
            </a:r>
          </a:p>
        </p:txBody>
      </p:sp>
      <p:sp>
        <p:nvSpPr>
          <p:cNvPr id="14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5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项目预算与 AI 辅助开发成本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现金支出以小程序认证与云资源为主，AI 辅助开发成本极低。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54480"/>
            <a:ext cx="5349240" cy="402336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22960" y="1682496"/>
            <a:ext cx="48006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经费预算明细</a:t>
            </a:r>
          </a:p>
        </p:txBody>
      </p:sp>
      <p:sp>
        <p:nvSpPr>
          <p:cNvPr id="7" name="Shape 6"/>
          <p:cNvSpPr/>
          <p:nvPr/>
        </p:nvSpPr>
        <p:spPr>
          <a:xfrm>
            <a:off x="822960" y="221284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22960" y="2340864"/>
            <a:ext cx="48006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小程序主体认证费：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300 元/年（刚性）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微信云开发：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～ 1300 元/年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域名与备案：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～ 100 元/年（可选）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推广物料：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～ 1000 元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辅助开发（DeepSeek）：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 ～ 270 元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人员成本：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元（课程设计不计酬）</a:t>
            </a:r>
          </a:p>
        </p:txBody>
      </p:sp>
      <p:sp>
        <p:nvSpPr>
          <p:cNvPr id="9" name="Shape 8"/>
          <p:cNvSpPr/>
          <p:nvPr/>
        </p:nvSpPr>
        <p:spPr>
          <a:xfrm>
            <a:off x="6263640" y="1554480"/>
            <a:ext cx="5349240" cy="402336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6537960" y="1682496"/>
            <a:ext cx="48006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8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辅助开发成本（DeepSeek）</a:t>
            </a:r>
          </a:p>
        </p:txBody>
      </p:sp>
      <p:sp>
        <p:nvSpPr>
          <p:cNvPr id="11" name="Shape 10"/>
          <p:cNvSpPr/>
          <p:nvPr/>
        </p:nvSpPr>
        <p:spPr>
          <a:xfrm>
            <a:off x="6537960" y="221284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6537960" y="2340864"/>
            <a:ext cx="48006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交互轮次（预计）：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910 轮 / 16 教学周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tokens：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3,030 万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tokens：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337.5 万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计费模型：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deepseek-flash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综合单价（高峰/空闲各半）：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0.03/1.5 元·百万；输出 6 元·百万</a:t>
            </a:r>
          </a:p>
          <a:p>
            <a:pPr>
              <a:lnSpc>
                <a:spcPct val="130000"/>
              </a:lnSpc>
              <a:spcAft>
                <a:spcPts val="8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预计费用：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 35 元（高配 pro 约 135 元）</a:t>
            </a:r>
          </a:p>
        </p:txBody>
      </p:sp>
      <p:sp>
        <p:nvSpPr>
          <p:cNvPr id="13" name="Shape 12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4" name="Text 13"/>
          <p:cNvSpPr/>
          <p:nvPr/>
        </p:nvSpPr>
        <p:spPr>
          <a:xfrm>
            <a:off x="868680" y="577900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合计现金预算 335 ～ 2870 元，可控制在千元级；AI 成本占比不足 12%</a:t>
            </a:r>
          </a:p>
        </p:txBody>
      </p:sp>
      <p:sp>
        <p:nvSpPr>
          <p:cNvPr id="15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6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 · 总体排期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207008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按《软件工程》课程进度表排定：16 教学周（9/16–1/6），10 个阶段，14 个里程碑。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389888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49808" y="1453896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项目启动与准备</a:t>
            </a:r>
          </a:p>
        </p:txBody>
      </p:sp>
      <p:sp>
        <p:nvSpPr>
          <p:cNvPr id="7" name="Text 6"/>
          <p:cNvSpPr/>
          <p:nvPr/>
        </p:nvSpPr>
        <p:spPr>
          <a:xfrm>
            <a:off x="749808" y="18105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W1–W2（9/16–9/23）· 分组信息、预备作业、项目介绍PPT</a:t>
            </a:r>
          </a:p>
        </p:txBody>
      </p:sp>
      <p:sp>
        <p:nvSpPr>
          <p:cNvPr id="8" name="Shape 7"/>
          <p:cNvSpPr/>
          <p:nvPr/>
        </p:nvSpPr>
        <p:spPr>
          <a:xfrm>
            <a:off x="6263640" y="1389888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9" name="Text 8"/>
          <p:cNvSpPr/>
          <p:nvPr/>
        </p:nvSpPr>
        <p:spPr>
          <a:xfrm>
            <a:off x="6464808" y="1453896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</a:t>
            </a:r>
          </a:p>
        </p:txBody>
      </p:sp>
      <p:sp>
        <p:nvSpPr>
          <p:cNvPr id="10" name="Text 9"/>
          <p:cNvSpPr/>
          <p:nvPr/>
        </p:nvSpPr>
        <p:spPr>
          <a:xfrm>
            <a:off x="6464808" y="18105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W3–W4（9/30–10/14）· 项目计划书、计划PPT、修订版</a:t>
            </a:r>
          </a:p>
        </p:txBody>
      </p:sp>
      <p:sp>
        <p:nvSpPr>
          <p:cNvPr id="11" name="Shape 10"/>
          <p:cNvSpPr/>
          <p:nvPr/>
        </p:nvSpPr>
        <p:spPr>
          <a:xfrm>
            <a:off x="548640" y="2368296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2" name="Text 11"/>
          <p:cNvSpPr/>
          <p:nvPr/>
        </p:nvSpPr>
        <p:spPr>
          <a:xfrm>
            <a:off x="749808" y="243230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可行性研究</a:t>
            </a:r>
          </a:p>
        </p:txBody>
      </p:sp>
      <p:sp>
        <p:nvSpPr>
          <p:cNvPr id="13" name="Text 12"/>
          <p:cNvSpPr/>
          <p:nvPr/>
        </p:nvSpPr>
        <p:spPr>
          <a:xfrm>
            <a:off x="749808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W4–W5（10/14–10/21）· 可行性分析报告</a:t>
            </a:r>
          </a:p>
        </p:txBody>
      </p:sp>
      <p:sp>
        <p:nvSpPr>
          <p:cNvPr id="14" name="Shape 13"/>
          <p:cNvSpPr/>
          <p:nvPr/>
        </p:nvSpPr>
        <p:spPr>
          <a:xfrm>
            <a:off x="6263640" y="2368296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5" name="Text 14"/>
          <p:cNvSpPr/>
          <p:nvPr/>
        </p:nvSpPr>
        <p:spPr>
          <a:xfrm>
            <a:off x="6464808" y="243230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</a:p>
        </p:txBody>
      </p:sp>
      <p:sp>
        <p:nvSpPr>
          <p:cNvPr id="16" name="Text 15"/>
          <p:cNvSpPr/>
          <p:nvPr/>
        </p:nvSpPr>
        <p:spPr>
          <a:xfrm>
            <a:off x="6464808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W6–W8（10/28–11/11）· SRS、需求评审PPT、SRS修订版</a:t>
            </a:r>
          </a:p>
        </p:txBody>
      </p:sp>
      <p:sp>
        <p:nvSpPr>
          <p:cNvPr id="17" name="Shape 16"/>
          <p:cNvSpPr/>
          <p:nvPr/>
        </p:nvSpPr>
        <p:spPr>
          <a:xfrm>
            <a:off x="548640" y="3346704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8" name="Text 17"/>
          <p:cNvSpPr/>
          <p:nvPr/>
        </p:nvSpPr>
        <p:spPr>
          <a:xfrm>
            <a:off x="749808" y="341071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</a:t>
            </a:r>
          </a:p>
        </p:txBody>
      </p:sp>
      <p:sp>
        <p:nvSpPr>
          <p:cNvPr id="19" name="Text 18"/>
          <p:cNvSpPr/>
          <p:nvPr/>
        </p:nvSpPr>
        <p:spPr>
          <a:xfrm>
            <a:off x="749808" y="37673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W8–W9（11/11–11/18）· 总体设计报告、原型与视觉稿</a:t>
            </a:r>
          </a:p>
        </p:txBody>
      </p:sp>
      <p:sp>
        <p:nvSpPr>
          <p:cNvPr id="20" name="Shape 19"/>
          <p:cNvSpPr/>
          <p:nvPr/>
        </p:nvSpPr>
        <p:spPr>
          <a:xfrm>
            <a:off x="6263640" y="3346704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1" name="Text 20"/>
          <p:cNvSpPr/>
          <p:nvPr/>
        </p:nvSpPr>
        <p:spPr>
          <a:xfrm>
            <a:off x="6464808" y="341071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</a:t>
            </a:r>
          </a:p>
        </p:txBody>
      </p:sp>
      <p:sp>
        <p:nvSpPr>
          <p:cNvPr id="22" name="Text 21"/>
          <p:cNvSpPr/>
          <p:nvPr/>
        </p:nvSpPr>
        <p:spPr>
          <a:xfrm>
            <a:off x="6464808" y="37673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W9–W11（11/18–12/2）· 详细设计报告、设计评审PPT、修订说明</a:t>
            </a:r>
          </a:p>
        </p:txBody>
      </p:sp>
      <p:sp>
        <p:nvSpPr>
          <p:cNvPr id="23" name="Shape 22"/>
          <p:cNvSpPr/>
          <p:nvPr/>
        </p:nvSpPr>
        <p:spPr>
          <a:xfrm>
            <a:off x="548640" y="4325112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4" name="Text 23"/>
          <p:cNvSpPr/>
          <p:nvPr/>
        </p:nvSpPr>
        <p:spPr>
          <a:xfrm>
            <a:off x="749808" y="438912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P7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编码实现</a:t>
            </a:r>
          </a:p>
        </p:txBody>
      </p:sp>
      <p:sp>
        <p:nvSpPr>
          <p:cNvPr id="25" name="Text 24"/>
          <p:cNvSpPr/>
          <p:nvPr/>
        </p:nvSpPr>
        <p:spPr>
          <a:xfrm>
            <a:off x="749808" y="474573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W10–W12（11/25–12/9）· 源码、代码清单、测试用例</a:t>
            </a:r>
          </a:p>
        </p:txBody>
      </p:sp>
      <p:sp>
        <p:nvSpPr>
          <p:cNvPr id="26" name="Shape 25"/>
          <p:cNvSpPr/>
          <p:nvPr/>
        </p:nvSpPr>
        <p:spPr>
          <a:xfrm>
            <a:off x="6263640" y="4325112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7" name="Text 26"/>
          <p:cNvSpPr/>
          <p:nvPr/>
        </p:nvSpPr>
        <p:spPr>
          <a:xfrm>
            <a:off x="6464808" y="438912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P8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测试与试运行</a:t>
            </a:r>
          </a:p>
        </p:txBody>
      </p:sp>
      <p:sp>
        <p:nvSpPr>
          <p:cNvPr id="28" name="Text 27"/>
          <p:cNvSpPr/>
          <p:nvPr/>
        </p:nvSpPr>
        <p:spPr>
          <a:xfrm>
            <a:off x="6464808" y="474573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W11–W13（12/2–12/16）· 系统测试报告、测试报告修订版</a:t>
            </a:r>
          </a:p>
        </p:txBody>
      </p:sp>
      <p:sp>
        <p:nvSpPr>
          <p:cNvPr id="29" name="Shape 28"/>
          <p:cNvSpPr/>
          <p:nvPr/>
        </p:nvSpPr>
        <p:spPr>
          <a:xfrm>
            <a:off x="548640" y="5303520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30" name="Text 29"/>
          <p:cNvSpPr/>
          <p:nvPr/>
        </p:nvSpPr>
        <p:spPr>
          <a:xfrm>
            <a:off x="749808" y="536752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P9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优化与维护</a:t>
            </a:r>
          </a:p>
        </p:txBody>
      </p:sp>
      <p:sp>
        <p:nvSpPr>
          <p:cNvPr id="31" name="Text 30"/>
          <p:cNvSpPr/>
          <p:nvPr/>
        </p:nvSpPr>
        <p:spPr>
          <a:xfrm>
            <a:off x="749808" y="57241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W14（12/23）· 优化记录、试运行反馈、使用手册</a:t>
            </a:r>
          </a:p>
        </p:txBody>
      </p:sp>
      <p:sp>
        <p:nvSpPr>
          <p:cNvPr id="32" name="Shape 31"/>
          <p:cNvSpPr/>
          <p:nvPr/>
        </p:nvSpPr>
        <p:spPr>
          <a:xfrm>
            <a:off x="6263640" y="5303520"/>
            <a:ext cx="53492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33" name="Text 32"/>
          <p:cNvSpPr/>
          <p:nvPr/>
        </p:nvSpPr>
        <p:spPr>
          <a:xfrm>
            <a:off x="6464808" y="536752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P10  </a:t>
            </a:r>
            <a:r>
              <a:rPr lang="zh-CN" sz="15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总结与验收</a:t>
            </a:r>
          </a:p>
        </p:txBody>
      </p:sp>
      <p:sp>
        <p:nvSpPr>
          <p:cNvPr id="34" name="Text 33"/>
          <p:cNvSpPr/>
          <p:nvPr/>
        </p:nvSpPr>
        <p:spPr>
          <a:xfrm>
            <a:off x="6464808" y="572414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W15–W16（12/30–1/6）· 项目总结报告、总评审PPT、归档材料</a:t>
            </a:r>
          </a:p>
        </p:txBody>
      </p:sp>
      <p:sp>
        <p:nvSpPr>
          <p:cNvPr id="35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36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 · 课程里程碑时间轴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M1–M14 全部对齐《软件工程》课程进度表（2026/9–2027/1）。</a:t>
            </a:r>
          </a:p>
        </p:txBody>
      </p:sp>
      <p:pic>
        <p:nvPicPr>
          <p:cNvPr id="5" name="Picture 4" descr="ppt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71" y="1572768"/>
            <a:ext cx="9577754" cy="39319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68680" y="577900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每个里程碑对应课程进度表中的一次交付：9/23 项目介绍 PPT → 12/2 代码清单 → 1/6 课程作业评审</a:t>
            </a:r>
          </a:p>
        </p:txBody>
      </p:sp>
      <p:sp>
        <p:nvSpPr>
          <p:cNvPr id="10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1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 · 团队分工与课程里程碑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822960" y="153619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20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团队分工（W1–W16 全程）</a:t>
            </a:r>
          </a:p>
        </p:txBody>
      </p:sp>
      <p:sp>
        <p:nvSpPr>
          <p:cNvPr id="6" name="Shape 5"/>
          <p:cNvSpPr/>
          <p:nvPr/>
        </p:nvSpPr>
        <p:spPr>
          <a:xfrm>
            <a:off x="822960" y="2066544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22960" y="2212848"/>
            <a:ext cx="480060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罗嘉昊（组长）：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项目管理与计划、可行性研究、SRS、总体设计、云函数与积分账本、缺陷修复、总结报告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分组材料与计划PPT、需求调研与建模、原型与UI、详细设计报告、小程序前端与推送、测试用例与测试报告、试运行与使用手册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共同承担：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项目介绍PPT、需求评审PPT、设计评审PPT（翻转PPT1）、代码清单（翻转PPT2）、总评审PPT、材料归档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覆盖情况：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两人均覆盖 W1–W16 全部 16 个教学周，无空档周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协作机制：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每周例会同步进度，需求变更须评审，代码统一走 Git 分支管理</a:t>
            </a:r>
          </a:p>
        </p:txBody>
      </p:sp>
      <p:sp>
        <p:nvSpPr>
          <p:cNvPr id="8" name="Shape 7"/>
          <p:cNvSpPr/>
          <p:nvPr/>
        </p:nvSpPr>
        <p:spPr>
          <a:xfrm>
            <a:off x="6263640" y="1371600"/>
            <a:ext cx="5349240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9" name="Text 8"/>
          <p:cNvSpPr/>
          <p:nvPr/>
        </p:nvSpPr>
        <p:spPr>
          <a:xfrm>
            <a:off x="6537960" y="153619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20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课程里程碑（M1–M14）</a:t>
            </a:r>
          </a:p>
        </p:txBody>
      </p:sp>
      <p:sp>
        <p:nvSpPr>
          <p:cNvPr id="10" name="Shape 9"/>
          <p:cNvSpPr/>
          <p:nvPr/>
        </p:nvSpPr>
        <p:spPr>
          <a:xfrm>
            <a:off x="6537960" y="2066544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10"/>
          <p:cNvSpPr/>
          <p:nvPr/>
        </p:nvSpPr>
        <p:spPr>
          <a:xfrm>
            <a:off x="6537960" y="2212848"/>
            <a:ext cx="480060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sz="1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月｜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 项目介绍及PPT（9/23）· M2 项目计划及PPT（9/30）</a:t>
            </a:r>
          </a:p>
          <a:p>
            <a:pPr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sz="1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月｜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M3 计划修订（10/14）· M4 可行性报告（10/21）· M5 SRS（10/28）</a:t>
            </a:r>
          </a:p>
          <a:p>
            <a:pPr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sz="1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月｜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M6 SRS修订（11/4）· M7 总体设计（11/11）· M8 详细设计（11/18）· M9 设计评审+翻转PPT1（11/25）</a:t>
            </a:r>
          </a:p>
          <a:p>
            <a:pPr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sz="1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月｜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M10 代码清单+测试用例+翻转PPT2（12/2）· M11 系统测试报告（12/9）· M12 测试报告修订（12/16）· M13 总结报告+总评审PPT（12/30）</a:t>
            </a:r>
          </a:p>
          <a:p>
            <a:pPr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sz="12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月｜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M14 课程作业评审（1/6）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3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 · 阶段成果分工与贡献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项阶段交付物逐项落实到人；两人工作量占比 55.0% : 45.0%，均覆盖 W1–W16 全程。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7406640" cy="4224528"/>
          </a:xfrm>
          <a:prstGeom prst="roundRect">
            <a:avLst>
              <a:gd name="adj" fmla="val 21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HeadBg 5"/>
          <p:cNvSpPr/>
          <p:nvPr/>
        </p:nvSpPr>
        <p:spPr>
          <a:xfrm>
            <a:off x="548640" y="1572768"/>
            <a:ext cx="740664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p/>
        </p:txBody>
      </p:sp>
      <p:sp>
        <p:nvSpPr>
          <p:cNvPr id="7" name="Text 6"/>
          <p:cNvSpPr/>
          <p:nvPr/>
        </p:nvSpPr>
        <p:spPr>
          <a:xfrm>
            <a:off x="640080" y="1591056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</a:t>
            </a:r>
          </a:p>
        </p:txBody>
      </p:sp>
      <p:sp>
        <p:nvSpPr>
          <p:cNvPr id="8" name="Text 7"/>
          <p:cNvSpPr/>
          <p:nvPr/>
        </p:nvSpPr>
        <p:spPr>
          <a:xfrm>
            <a:off x="1965960" y="1591056"/>
            <a:ext cx="4133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主要交付物（课程截止日）</a:t>
            </a:r>
          </a:p>
        </p:txBody>
      </p:sp>
      <p:sp>
        <p:nvSpPr>
          <p:cNvPr id="9" name="Text 8"/>
          <p:cNvSpPr/>
          <p:nvPr/>
        </p:nvSpPr>
        <p:spPr>
          <a:xfrm>
            <a:off x="6190488" y="1591056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责任人</a:t>
            </a:r>
          </a:p>
        </p:txBody>
      </p:sp>
      <p:sp>
        <p:nvSpPr>
          <p:cNvPr id="10" name="Text 9"/>
          <p:cNvSpPr/>
          <p:nvPr/>
        </p:nvSpPr>
        <p:spPr>
          <a:xfrm>
            <a:off x="640080" y="1938528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项目启动与准备</a:t>
            </a:r>
          </a:p>
        </p:txBody>
      </p:sp>
      <p:sp>
        <p:nvSpPr>
          <p:cNvPr id="11" name="Text 10"/>
          <p:cNvSpPr/>
          <p:nvPr/>
        </p:nvSpPr>
        <p:spPr>
          <a:xfrm>
            <a:off x="1965960" y="1938528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分组信息、预备作业、项目介绍 PPT（9/23）</a:t>
            </a:r>
          </a:p>
        </p:txBody>
      </p:sp>
      <p:sp>
        <p:nvSpPr>
          <p:cNvPr id="12" name="Text 11"/>
          <p:cNvSpPr/>
          <p:nvPr/>
        </p:nvSpPr>
        <p:spPr>
          <a:xfrm>
            <a:off x="6190488" y="193852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全体</a:t>
            </a:r>
          </a:p>
        </p:txBody>
      </p:sp>
      <p:sp>
        <p:nvSpPr>
          <p:cNvPr id="13" name="Shape 12"/>
          <p:cNvSpPr/>
          <p:nvPr/>
        </p:nvSpPr>
        <p:spPr>
          <a:xfrm>
            <a:off x="548640" y="2322576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14" name="RowBg 13"/>
          <p:cNvSpPr/>
          <p:nvPr/>
        </p:nvSpPr>
        <p:spPr>
          <a:xfrm>
            <a:off x="548640" y="2322576"/>
            <a:ext cx="74066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p/>
        </p:txBody>
      </p:sp>
      <p:sp>
        <p:nvSpPr>
          <p:cNvPr id="15" name="Text 14"/>
          <p:cNvSpPr/>
          <p:nvPr/>
        </p:nvSpPr>
        <p:spPr>
          <a:xfrm>
            <a:off x="640080" y="2322576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项目计划</a:t>
            </a:r>
          </a:p>
        </p:txBody>
      </p:sp>
      <p:sp>
        <p:nvSpPr>
          <p:cNvPr id="16" name="Text 15"/>
          <p:cNvSpPr/>
          <p:nvPr/>
        </p:nvSpPr>
        <p:spPr>
          <a:xfrm>
            <a:off x="1965960" y="2322576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项目计划书（9/30）、修订版计划书（10/14）</a:t>
            </a:r>
          </a:p>
        </p:txBody>
      </p:sp>
      <p:sp>
        <p:nvSpPr>
          <p:cNvPr id="17" name="Text 16"/>
          <p:cNvSpPr/>
          <p:nvPr/>
        </p:nvSpPr>
        <p:spPr>
          <a:xfrm>
            <a:off x="6190488" y="232257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 · 李雨鑫</a:t>
            </a:r>
          </a:p>
        </p:txBody>
      </p:sp>
      <p:sp>
        <p:nvSpPr>
          <p:cNvPr id="18" name="Shape 17"/>
          <p:cNvSpPr/>
          <p:nvPr/>
        </p:nvSpPr>
        <p:spPr>
          <a:xfrm>
            <a:off x="548640" y="2706624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19" name="Text 18"/>
          <p:cNvSpPr/>
          <p:nvPr/>
        </p:nvSpPr>
        <p:spPr>
          <a:xfrm>
            <a:off x="640080" y="270662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 可行性研究</a:t>
            </a:r>
          </a:p>
        </p:txBody>
      </p:sp>
      <p:sp>
        <p:nvSpPr>
          <p:cNvPr id="20" name="Text 19"/>
          <p:cNvSpPr/>
          <p:nvPr/>
        </p:nvSpPr>
        <p:spPr>
          <a:xfrm>
            <a:off x="1965960" y="2706624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调研记录、竞品分析表、可行性分析报告（10/21）</a:t>
            </a:r>
          </a:p>
        </p:txBody>
      </p:sp>
      <p:sp>
        <p:nvSpPr>
          <p:cNvPr id="21" name="Text 20"/>
          <p:cNvSpPr/>
          <p:nvPr/>
        </p:nvSpPr>
        <p:spPr>
          <a:xfrm>
            <a:off x="6190488" y="270662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 · 罗嘉昊</a:t>
            </a:r>
          </a:p>
        </p:txBody>
      </p:sp>
      <p:sp>
        <p:nvSpPr>
          <p:cNvPr id="22" name="Shape 21"/>
          <p:cNvSpPr/>
          <p:nvPr/>
        </p:nvSpPr>
        <p:spPr>
          <a:xfrm>
            <a:off x="548640" y="3090672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23" name="RowBg 22"/>
          <p:cNvSpPr/>
          <p:nvPr/>
        </p:nvSpPr>
        <p:spPr>
          <a:xfrm>
            <a:off x="548640" y="3090672"/>
            <a:ext cx="74066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p/>
        </p:txBody>
      </p:sp>
      <p:sp>
        <p:nvSpPr>
          <p:cNvPr id="24" name="Text 23"/>
          <p:cNvSpPr/>
          <p:nvPr/>
        </p:nvSpPr>
        <p:spPr>
          <a:xfrm>
            <a:off x="640080" y="309067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P4 需求分析</a:t>
            </a:r>
          </a:p>
        </p:txBody>
      </p:sp>
      <p:sp>
        <p:nvSpPr>
          <p:cNvPr id="25" name="Text 24"/>
          <p:cNvSpPr/>
          <p:nvPr/>
        </p:nvSpPr>
        <p:spPr>
          <a:xfrm>
            <a:off x="1965960" y="3090672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用例与数据流图、SRS（10/28）、SRS 修订版（11/4）</a:t>
            </a:r>
          </a:p>
        </p:txBody>
      </p:sp>
      <p:sp>
        <p:nvSpPr>
          <p:cNvPr id="26" name="Text 25"/>
          <p:cNvSpPr/>
          <p:nvPr/>
        </p:nvSpPr>
        <p:spPr>
          <a:xfrm>
            <a:off x="6190488" y="3090672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 · 李雨鑫</a:t>
            </a:r>
          </a:p>
        </p:txBody>
      </p:sp>
      <p:sp>
        <p:nvSpPr>
          <p:cNvPr id="27" name="Shape 26"/>
          <p:cNvSpPr/>
          <p:nvPr/>
        </p:nvSpPr>
        <p:spPr>
          <a:xfrm>
            <a:off x="548640" y="3474720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28" name="Text 27"/>
          <p:cNvSpPr/>
          <p:nvPr/>
        </p:nvSpPr>
        <p:spPr>
          <a:xfrm>
            <a:off x="640080" y="347472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P5 总体设计</a:t>
            </a:r>
          </a:p>
        </p:txBody>
      </p:sp>
      <p:sp>
        <p:nvSpPr>
          <p:cNvPr id="29" name="Text 28"/>
          <p:cNvSpPr/>
          <p:nvPr/>
        </p:nvSpPr>
        <p:spPr>
          <a:xfrm>
            <a:off x="1965960" y="3474720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总体设计报告（11/11）、原型稿、UI 视觉稿</a:t>
            </a:r>
          </a:p>
        </p:txBody>
      </p:sp>
      <p:sp>
        <p:nvSpPr>
          <p:cNvPr id="30" name="Text 29"/>
          <p:cNvSpPr/>
          <p:nvPr/>
        </p:nvSpPr>
        <p:spPr>
          <a:xfrm>
            <a:off x="6190488" y="347472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 · 李雨鑫</a:t>
            </a:r>
          </a:p>
        </p:txBody>
      </p:sp>
      <p:sp>
        <p:nvSpPr>
          <p:cNvPr id="31" name="Shape 30"/>
          <p:cNvSpPr/>
          <p:nvPr/>
        </p:nvSpPr>
        <p:spPr>
          <a:xfrm>
            <a:off x="548640" y="3858768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32" name="RowBg 31"/>
          <p:cNvSpPr/>
          <p:nvPr/>
        </p:nvSpPr>
        <p:spPr>
          <a:xfrm>
            <a:off x="548640" y="3858768"/>
            <a:ext cx="74066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p/>
        </p:txBody>
      </p:sp>
      <p:sp>
        <p:nvSpPr>
          <p:cNvPr id="33" name="Text 32"/>
          <p:cNvSpPr/>
          <p:nvPr/>
        </p:nvSpPr>
        <p:spPr>
          <a:xfrm>
            <a:off x="640080" y="3858768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P6 详细设计</a:t>
            </a:r>
          </a:p>
        </p:txBody>
      </p:sp>
      <p:sp>
        <p:nvSpPr>
          <p:cNvPr id="34" name="Text 33"/>
          <p:cNvSpPr/>
          <p:nvPr/>
        </p:nvSpPr>
        <p:spPr>
          <a:xfrm>
            <a:off x="1965960" y="3858768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详细设计报告（11/18）、设计评审 PPT（11/25）</a:t>
            </a:r>
          </a:p>
        </p:txBody>
      </p:sp>
      <p:sp>
        <p:nvSpPr>
          <p:cNvPr id="35" name="Text 34"/>
          <p:cNvSpPr/>
          <p:nvPr/>
        </p:nvSpPr>
        <p:spPr>
          <a:xfrm>
            <a:off x="6190488" y="385876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 · 罗嘉昊</a:t>
            </a:r>
          </a:p>
        </p:txBody>
      </p:sp>
      <p:sp>
        <p:nvSpPr>
          <p:cNvPr id="36" name="Shape 35"/>
          <p:cNvSpPr/>
          <p:nvPr/>
        </p:nvSpPr>
        <p:spPr>
          <a:xfrm>
            <a:off x="548640" y="4242816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37" name="Text 36"/>
          <p:cNvSpPr/>
          <p:nvPr/>
        </p:nvSpPr>
        <p:spPr>
          <a:xfrm>
            <a:off x="640080" y="4242816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P7 编码实现</a:t>
            </a:r>
          </a:p>
        </p:txBody>
      </p:sp>
      <p:sp>
        <p:nvSpPr>
          <p:cNvPr id="38" name="Text 37"/>
          <p:cNvSpPr/>
          <p:nvPr/>
        </p:nvSpPr>
        <p:spPr>
          <a:xfrm>
            <a:off x="1965960" y="4242816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小程序与云开发源码、代码清单与测试用例（12/2）</a:t>
            </a:r>
          </a:p>
        </p:txBody>
      </p:sp>
      <p:sp>
        <p:nvSpPr>
          <p:cNvPr id="39" name="Text 38"/>
          <p:cNvSpPr/>
          <p:nvPr/>
        </p:nvSpPr>
        <p:spPr>
          <a:xfrm>
            <a:off x="6190488" y="424281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罗嘉昊（后端）· 李雨鑫（前端）</a:t>
            </a:r>
          </a:p>
        </p:txBody>
      </p:sp>
      <p:sp>
        <p:nvSpPr>
          <p:cNvPr id="40" name="Shape 39"/>
          <p:cNvSpPr/>
          <p:nvPr/>
        </p:nvSpPr>
        <p:spPr>
          <a:xfrm>
            <a:off x="548640" y="4626864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41" name="RowBg 40"/>
          <p:cNvSpPr/>
          <p:nvPr/>
        </p:nvSpPr>
        <p:spPr>
          <a:xfrm>
            <a:off x="548640" y="4626864"/>
            <a:ext cx="74066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p/>
        </p:txBody>
      </p:sp>
      <p:sp>
        <p:nvSpPr>
          <p:cNvPr id="42" name="Text 41"/>
          <p:cNvSpPr/>
          <p:nvPr/>
        </p:nvSpPr>
        <p:spPr>
          <a:xfrm>
            <a:off x="640080" y="462686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P8 测试与试运行</a:t>
            </a:r>
          </a:p>
        </p:txBody>
      </p:sp>
      <p:sp>
        <p:nvSpPr>
          <p:cNvPr id="43" name="Text 42"/>
          <p:cNvSpPr/>
          <p:nvPr/>
        </p:nvSpPr>
        <p:spPr>
          <a:xfrm>
            <a:off x="1965960" y="4626864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系统测试报告（12/9）、测试报告修订版（12/16）</a:t>
            </a:r>
          </a:p>
        </p:txBody>
      </p:sp>
      <p:sp>
        <p:nvSpPr>
          <p:cNvPr id="44" name="Text 43"/>
          <p:cNvSpPr/>
          <p:nvPr/>
        </p:nvSpPr>
        <p:spPr>
          <a:xfrm>
            <a:off x="6190488" y="4626864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 · 罗嘉昊</a:t>
            </a:r>
          </a:p>
        </p:txBody>
      </p:sp>
      <p:sp>
        <p:nvSpPr>
          <p:cNvPr id="45" name="Shape 44"/>
          <p:cNvSpPr/>
          <p:nvPr/>
        </p:nvSpPr>
        <p:spPr>
          <a:xfrm>
            <a:off x="548640" y="5010912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46" name="Text 45"/>
          <p:cNvSpPr/>
          <p:nvPr/>
        </p:nvSpPr>
        <p:spPr>
          <a:xfrm>
            <a:off x="640080" y="501091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P9 优化与维护</a:t>
            </a:r>
          </a:p>
        </p:txBody>
      </p:sp>
      <p:sp>
        <p:nvSpPr>
          <p:cNvPr id="47" name="Text 46"/>
          <p:cNvSpPr/>
          <p:nvPr/>
        </p:nvSpPr>
        <p:spPr>
          <a:xfrm>
            <a:off x="1965960" y="5010912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优化记录、试运行反馈、用户使用手册</a:t>
            </a:r>
          </a:p>
        </p:txBody>
      </p:sp>
      <p:sp>
        <p:nvSpPr>
          <p:cNvPr id="48" name="Text 47"/>
          <p:cNvSpPr/>
          <p:nvPr/>
        </p:nvSpPr>
        <p:spPr>
          <a:xfrm>
            <a:off x="6190488" y="5010912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 · 李雨鑫</a:t>
            </a:r>
          </a:p>
        </p:txBody>
      </p:sp>
      <p:sp>
        <p:nvSpPr>
          <p:cNvPr id="49" name="Shape 48"/>
          <p:cNvSpPr/>
          <p:nvPr/>
        </p:nvSpPr>
        <p:spPr>
          <a:xfrm>
            <a:off x="548640" y="5394960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50" name="RowBg 49"/>
          <p:cNvSpPr/>
          <p:nvPr/>
        </p:nvSpPr>
        <p:spPr>
          <a:xfrm>
            <a:off x="548640" y="5394960"/>
            <a:ext cx="74066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p/>
        </p:txBody>
      </p:sp>
      <p:sp>
        <p:nvSpPr>
          <p:cNvPr id="51" name="Text 50"/>
          <p:cNvSpPr/>
          <p:nvPr/>
        </p:nvSpPr>
        <p:spPr>
          <a:xfrm>
            <a:off x="640080" y="5394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P10 总结与验收</a:t>
            </a:r>
          </a:p>
        </p:txBody>
      </p:sp>
      <p:sp>
        <p:nvSpPr>
          <p:cNvPr id="52" name="Text 51"/>
          <p:cNvSpPr/>
          <p:nvPr/>
        </p:nvSpPr>
        <p:spPr>
          <a:xfrm>
            <a:off x="1965960" y="5394960"/>
            <a:ext cx="41330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项目总结报告与总评审 PPT（12/30）、归档材料（1/6）</a:t>
            </a:r>
          </a:p>
        </p:txBody>
      </p:sp>
      <p:sp>
        <p:nvSpPr>
          <p:cNvPr id="53" name="Text 52"/>
          <p:cNvSpPr/>
          <p:nvPr/>
        </p:nvSpPr>
        <p:spPr>
          <a:xfrm>
            <a:off x="6190488" y="539496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5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全体</a:t>
            </a:r>
          </a:p>
        </p:txBody>
      </p:sp>
      <p:sp>
        <p:nvSpPr>
          <p:cNvPr id="54" name="Shape 53"/>
          <p:cNvSpPr/>
          <p:nvPr/>
        </p:nvSpPr>
        <p:spPr>
          <a:xfrm>
            <a:off x="548640" y="5779008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  <p:txBody>
          <a:bodyPr/>
          <a:p/>
        </p:txBody>
      </p:sp>
      <p:sp>
        <p:nvSpPr>
          <p:cNvPr id="55" name="Shape 54"/>
          <p:cNvSpPr/>
          <p:nvPr/>
        </p:nvSpPr>
        <p:spPr>
          <a:xfrm>
            <a:off x="8183880" y="1572768"/>
            <a:ext cx="3429000" cy="1956816"/>
          </a:xfrm>
          <a:prstGeom prst="roundRect">
            <a:avLst>
              <a:gd name="adj" fmla="val 65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6" name="Text 55"/>
          <p:cNvSpPr/>
          <p:nvPr/>
        </p:nvSpPr>
        <p:spPr>
          <a:xfrm>
            <a:off x="8385048" y="1700784"/>
            <a:ext cx="30266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罗嘉昊（组长）</a:t>
            </a:r>
          </a:p>
        </p:txBody>
      </p:sp>
      <p:sp>
        <p:nvSpPr>
          <p:cNvPr id="57" name="Text 56"/>
          <p:cNvSpPr/>
          <p:nvPr/>
        </p:nvSpPr>
        <p:spPr>
          <a:xfrm>
            <a:off x="8385048" y="2103120"/>
            <a:ext cx="302666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34.10 人天 · 55.0%</a:t>
            </a:r>
          </a:p>
        </p:txBody>
      </p:sp>
      <p:sp>
        <p:nvSpPr>
          <p:cNvPr id="58" name="Text 57"/>
          <p:cNvSpPr/>
          <p:nvPr/>
        </p:nvSpPr>
        <p:spPr>
          <a:xfrm>
            <a:off x="8385048" y="2505456"/>
            <a:ext cx="302666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主责 WP1 项目管理、WP2 可行性研究、WP4 总体设计、WP6 后端与积分账本</a:t>
            </a:r>
          </a:p>
        </p:txBody>
      </p:sp>
      <p:sp>
        <p:nvSpPr>
          <p:cNvPr id="59" name="Text 58"/>
          <p:cNvSpPr/>
          <p:nvPr/>
        </p:nvSpPr>
        <p:spPr>
          <a:xfrm>
            <a:off x="8385048" y="3108960"/>
            <a:ext cx="302666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M1–M3 绩效均分 90.1　等级：优秀</a:t>
            </a:r>
          </a:p>
        </p:txBody>
      </p:sp>
      <p:sp>
        <p:nvSpPr>
          <p:cNvPr id="60" name="Shape 59"/>
          <p:cNvSpPr/>
          <p:nvPr/>
        </p:nvSpPr>
        <p:spPr>
          <a:xfrm>
            <a:off x="8183880" y="3657600"/>
            <a:ext cx="3429000" cy="1956816"/>
          </a:xfrm>
          <a:prstGeom prst="roundRect">
            <a:avLst>
              <a:gd name="adj" fmla="val 654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1" name="Text 60"/>
          <p:cNvSpPr/>
          <p:nvPr/>
        </p:nvSpPr>
        <p:spPr>
          <a:xfrm>
            <a:off x="8385048" y="3785616"/>
            <a:ext cx="302666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6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</a:t>
            </a:r>
          </a:p>
        </p:txBody>
      </p:sp>
      <p:sp>
        <p:nvSpPr>
          <p:cNvPr id="62" name="Text 61"/>
          <p:cNvSpPr/>
          <p:nvPr/>
        </p:nvSpPr>
        <p:spPr>
          <a:xfrm>
            <a:off x="8385048" y="4187952"/>
            <a:ext cx="302666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27.90 人天 · 45.0%</a:t>
            </a:r>
          </a:p>
        </p:txBody>
      </p:sp>
      <p:sp>
        <p:nvSpPr>
          <p:cNvPr id="63" name="Text 62"/>
          <p:cNvSpPr/>
          <p:nvPr/>
        </p:nvSpPr>
        <p:spPr>
          <a:xfrm>
            <a:off x="8385048" y="4590288"/>
            <a:ext cx="302666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主责 WP3 需求建模、WP5 详细设计、WP7 测试与报告、WP8 试运行与手册</a:t>
            </a:r>
          </a:p>
        </p:txBody>
      </p:sp>
      <p:sp>
        <p:nvSpPr>
          <p:cNvPr id="64" name="Text 63"/>
          <p:cNvSpPr/>
          <p:nvPr/>
        </p:nvSpPr>
        <p:spPr>
          <a:xfrm>
            <a:off x="8385048" y="5193792"/>
            <a:ext cx="302666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M1–M3 绩效均分 91.2　等级：优秀</a:t>
            </a:r>
          </a:p>
        </p:txBody>
      </p:sp>
      <p:sp>
        <p:nvSpPr>
          <p:cNvPr id="65" name="Shape 64"/>
          <p:cNvSpPr/>
          <p:nvPr/>
        </p:nvSpPr>
        <p:spPr>
          <a:xfrm>
            <a:off x="548640" y="5687568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" name="Text 65"/>
          <p:cNvSpPr/>
          <p:nvPr/>
        </p:nvSpPr>
        <p:spPr>
          <a:xfrm>
            <a:off x="868680" y="5705856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两人均覆盖 W1–W16 全部 16 个教学周，无空档周；6 项评审与汇报型交付物（评审 PPT、代码清单、总评审 PPT 等）由两人共同承担</a:t>
            </a:r>
          </a:p>
        </p:txBody>
      </p:sp>
      <p:sp>
        <p:nvSpPr>
          <p:cNvPr id="67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68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 · 甘特图（Project 工具绘制）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 ProjectLibre 依据 MSPDI 标准工程文件生成，含 WBS 层级、资源分配与 0 天里程碑。</a:t>
            </a:r>
          </a:p>
        </p:txBody>
      </p:sp>
      <p:pic>
        <p:nvPicPr>
          <p:cNvPr id="5" name="Picture 4" descr="gantt-projectlib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64208"/>
            <a:ext cx="6939408" cy="443484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275320" y="1572768"/>
            <a:ext cx="3364992" cy="4617720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485632" y="1700784"/>
            <a:ext cx="29443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工程文件要点</a:t>
            </a:r>
          </a:p>
        </p:txBody>
      </p:sp>
      <p:sp>
        <p:nvSpPr>
          <p:cNvPr id="7" name="Shape 6"/>
          <p:cNvSpPr/>
          <p:nvPr/>
        </p:nvSpPr>
        <p:spPr>
          <a:xfrm>
            <a:off x="8485632" y="2157984"/>
            <a:ext cx="2944368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485632" y="2286000"/>
            <a:ext cx="2944368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绘制工具：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ProjectLibre（开源项目管理软件）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文件格式：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MSPDI 标准 XML，MS Project 亦可打开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任务层级：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个工作包 + 38 项任务 + 14 个里程碑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资源分配：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 / 李雨鑫；“全体”任务各占 50%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日期范围：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2026/09/14 – 2027/01/08（W1–W16）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工作日历：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晚间 19:00–21:00，每晚计 0.25 天</a:t>
            </a:r>
          </a:p>
          <a:p>
            <a:pPr>
              <a:lnSpc>
                <a:spcPct val="125000"/>
              </a:lnSpc>
              <a:spcAft>
                <a:spcPts val="700"/>
              </a:spcAft>
              <a:buNone/>
            </a:pPr>
            <a:r>
              <a:rPr lang="zh-CN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工作日：</a:t>
            </a: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周一至周五；已扣除国庆假期周</a:t>
            </a:r>
          </a:p>
        </p:txBody>
      </p:sp>
      <p:sp>
        <p:nvSpPr>
          <p:cNvPr id="9" name="Text 8"/>
          <p:cNvSpPr/>
          <p:nvPr/>
        </p:nvSpPr>
        <p:spPr>
          <a:xfrm>
            <a:off x="502920" y="6126480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※ 完整可读版本见随附「甘特图-ProjectLibre风格.png」（3045×1791）与 MSPDI 工程文件</a:t>
            </a:r>
          </a:p>
        </p:txBody>
      </p:sp>
      <p:sp>
        <p:nvSpPr>
          <p:cNvPr id="10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1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质量保证与配置管理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用流程约束保证两人小组的交付质量与文档可追溯。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534924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22960" y="1700784"/>
            <a:ext cx="48006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8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质量保证</a:t>
            </a:r>
          </a:p>
        </p:txBody>
      </p:sp>
      <p:sp>
        <p:nvSpPr>
          <p:cNvPr id="7" name="Shape 6"/>
          <p:cNvSpPr/>
          <p:nvPr/>
        </p:nvSpPr>
        <p:spPr>
          <a:xfrm>
            <a:off x="822960" y="221284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822960" y="2359152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三道关口：文档评审 → 代码走查 → 测试验证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每阶段末组织一次文档评审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核心模块（积分账本、订单状态机）编码后走查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质量目标：无严重缺陷遗留，一般缺陷修复率 ≥ 90%</a:t>
            </a:r>
          </a:p>
        </p:txBody>
      </p:sp>
      <p:sp>
        <p:nvSpPr>
          <p:cNvPr id="9" name="Shape 8"/>
          <p:cNvSpPr/>
          <p:nvPr/>
        </p:nvSpPr>
        <p:spPr>
          <a:xfrm>
            <a:off x="6263640" y="1572768"/>
            <a:ext cx="534924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6537960" y="1700784"/>
            <a:ext cx="48006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8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配置管理</a:t>
            </a:r>
          </a:p>
        </p:txBody>
      </p:sp>
      <p:sp>
        <p:nvSpPr>
          <p:cNvPr id="11" name="Shape 10"/>
          <p:cNvSpPr/>
          <p:nvPr/>
        </p:nvSpPr>
        <p:spPr>
          <a:xfrm>
            <a:off x="6537960" y="2212848"/>
            <a:ext cx="4800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6537960" y="2359152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源码、文档、数据库脚本全部纳入 Git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main（可运行主干）+ feature/T 编号分支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文档版本号 V主.次，与里程碑 tag 对应</a:t>
            </a:r>
          </a:p>
          <a:p>
            <a:pPr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200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</a:t>
            </a:r>
            <a:r>
              <a:rPr 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变更走“申请→评估→批准→实施→记录”五步</a:t>
            </a:r>
          </a:p>
        </p:txBody>
      </p:sp>
      <p:sp>
        <p:nvSpPr>
          <p:cNvPr id="13" name="Shape 12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4" name="Text 13"/>
          <p:cNvSpPr/>
          <p:nvPr/>
        </p:nvSpPr>
        <p:spPr>
          <a:xfrm>
            <a:off x="868680" y="573328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过程可追溯：会议记录、变更台账、评审记录随里程碑归档，作为验收材料的一部分</a:t>
            </a:r>
          </a:p>
        </p:txBody>
      </p:sp>
      <p:sp>
        <p:nvSpPr>
          <p:cNvPr id="15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16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225296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正文中形如 [n] 的标记，表示该处内容参考了下方对应文献。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914400" y="1874520"/>
            <a:ext cx="1033272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[1]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国家邮政局. 2024年邮政行业发展统计公报[R]. 北京: 国家邮政局, 2025.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[2]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微信开放文档. 小程序开发指南[EB/OL]. https://developers.weixin.qq.com/miniprogram/dev/framework/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[3]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微信开放社区. 微信小程序平台运营规范[EB/OL]. https://developers.weixin.qq.com/community/operate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[4]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全国人民代表大会常务委员会. 中华人民共和国个人信息保护法[Z]. 2021-08-20 通过, 2021-11-01 施行.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[5]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全国人民代表大会常务委员会. 中华人民共和国著作权法(2020 年修正)[Z]. 2020-11-11 通过, 2021-06-01 施行.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[6]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国务院. 快递暂行条例(国务院令第 697 号)[Z]. 2018-03-27 公布, 2018-05-01 施行.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[7]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教育部. 大中小学劳动教育指导纲要(试行)[Z]. 2020-07-07.</a:t>
            </a:r>
          </a:p>
          <a:p>
            <a:pPr marL="457200" indent="-457200">
              <a:lnSpc>
                <a:spcPct val="130000"/>
              </a:lnSpc>
              <a:spcAft>
                <a:spcPts val="900"/>
              </a:spcAft>
              <a:buNone/>
            </a:pPr>
            <a:r>
              <a:rPr lang="zh-CN" sz="11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[8] </a:t>
            </a:r>
            <a:r>
              <a:rPr lang="zh-CN" sz="11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中国互联网络信息中心. 第 55 次《中国互联网络发展状况统计报告》[R/OL]. 2025-01-17. https://www.cnnic.cn/n4/2025/0117/c88-11229.html</a:t>
            </a:r>
          </a:p>
        </p:txBody>
      </p:sp>
      <p:sp>
        <p:nvSpPr>
          <p:cNvPr id="7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8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打造校园轻量级互助平台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2286000" y="3200400"/>
            <a:ext cx="75895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2286000" y="320040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 · 任务集市 · 信誉体系 · 校园专属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让每一次互助都简单、可信、有温度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团队绩效评价（量化）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每个里程碑按 4 个维度打分：自评 20% + 互评 40% + 指导教师 40% 加权，满分 100。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7406640" cy="3255264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HeadBg 5"/>
          <p:cNvSpPr/>
          <p:nvPr/>
        </p:nvSpPr>
        <p:spPr>
          <a:xfrm>
            <a:off x="548640" y="1572768"/>
            <a:ext cx="740664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7" name="Text 6"/>
          <p:cNvSpPr/>
          <p:nvPr/>
        </p:nvSpPr>
        <p:spPr>
          <a:xfrm>
            <a:off x="658368" y="159105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评价维度</a:t>
            </a:r>
          </a:p>
        </p:txBody>
      </p:sp>
      <p:sp>
        <p:nvSpPr>
          <p:cNvPr id="8" name="Text 7"/>
          <p:cNvSpPr/>
          <p:nvPr/>
        </p:nvSpPr>
        <p:spPr>
          <a:xfrm>
            <a:off x="3749040" y="159105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</a:t>
            </a:r>
          </a:p>
        </p:txBody>
      </p:sp>
      <p:sp>
        <p:nvSpPr>
          <p:cNvPr id="9" name="Text 8"/>
          <p:cNvSpPr/>
          <p:nvPr/>
        </p:nvSpPr>
        <p:spPr>
          <a:xfrm>
            <a:off x="5029200" y="159105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罗嘉昊</a:t>
            </a:r>
          </a:p>
        </p:txBody>
      </p:sp>
      <p:sp>
        <p:nvSpPr>
          <p:cNvPr id="10" name="Text 9"/>
          <p:cNvSpPr/>
          <p:nvPr/>
        </p:nvSpPr>
        <p:spPr>
          <a:xfrm>
            <a:off x="6492240" y="1591056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李雨鑫</a:t>
            </a:r>
          </a:p>
        </p:txBody>
      </p:sp>
      <p:sp>
        <p:nvSpPr>
          <p:cNvPr id="11" name="Text 10"/>
          <p:cNvSpPr/>
          <p:nvPr/>
        </p:nvSpPr>
        <p:spPr>
          <a:xfrm>
            <a:off x="658368" y="1975104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buNone/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任务完成度　</a:t>
            </a:r>
            <a:r>
              <a:rPr lang="zh-CN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分配任务是否按期完成、交付物是否齐备</a:t>
            </a:r>
          </a:p>
        </p:txBody>
      </p:sp>
      <p:sp>
        <p:nvSpPr>
          <p:cNvPr id="12" name="Text 11"/>
          <p:cNvSpPr/>
          <p:nvPr/>
        </p:nvSpPr>
        <p:spPr>
          <a:xfrm>
            <a:off x="3749040" y="195681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40%</a:t>
            </a:r>
          </a:p>
        </p:txBody>
      </p:sp>
      <p:sp>
        <p:nvSpPr>
          <p:cNvPr id="13" name="Text 12"/>
          <p:cNvSpPr/>
          <p:nvPr/>
        </p:nvSpPr>
        <p:spPr>
          <a:xfrm>
            <a:off x="5029200" y="195681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90.0</a:t>
            </a:r>
          </a:p>
        </p:txBody>
      </p:sp>
      <p:sp>
        <p:nvSpPr>
          <p:cNvPr id="14" name="Text 13"/>
          <p:cNvSpPr/>
          <p:nvPr/>
        </p:nvSpPr>
        <p:spPr>
          <a:xfrm>
            <a:off x="6492240" y="195681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91.0</a:t>
            </a:r>
          </a:p>
        </p:txBody>
      </p:sp>
      <p:sp>
        <p:nvSpPr>
          <p:cNvPr id="15" name="Shape 14"/>
          <p:cNvSpPr/>
          <p:nvPr/>
        </p:nvSpPr>
        <p:spPr>
          <a:xfrm>
            <a:off x="548640" y="2432304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16" name="RowBg 15"/>
          <p:cNvSpPr/>
          <p:nvPr/>
        </p:nvSpPr>
        <p:spPr>
          <a:xfrm>
            <a:off x="548640" y="2432304"/>
            <a:ext cx="740664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7" name="Text 16"/>
          <p:cNvSpPr/>
          <p:nvPr/>
        </p:nvSpPr>
        <p:spPr>
          <a:xfrm>
            <a:off x="658368" y="2450592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buNone/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交付质量　</a:t>
            </a:r>
            <a:r>
              <a:rPr lang="zh-CN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是否满足评审要求、返工次数、缺陷密度</a:t>
            </a:r>
          </a:p>
        </p:txBody>
      </p:sp>
      <p:sp>
        <p:nvSpPr>
          <p:cNvPr id="18" name="Text 17"/>
          <p:cNvSpPr/>
          <p:nvPr/>
        </p:nvSpPr>
        <p:spPr>
          <a:xfrm>
            <a:off x="3749040" y="2432304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25%</a:t>
            </a:r>
          </a:p>
        </p:txBody>
      </p:sp>
      <p:sp>
        <p:nvSpPr>
          <p:cNvPr id="19" name="Text 18"/>
          <p:cNvSpPr/>
          <p:nvPr/>
        </p:nvSpPr>
        <p:spPr>
          <a:xfrm>
            <a:off x="5029200" y="2432304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90.7</a:t>
            </a:r>
          </a:p>
        </p:txBody>
      </p:sp>
      <p:sp>
        <p:nvSpPr>
          <p:cNvPr id="20" name="Text 19"/>
          <p:cNvSpPr/>
          <p:nvPr/>
        </p:nvSpPr>
        <p:spPr>
          <a:xfrm>
            <a:off x="6492240" y="2432304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90.0</a:t>
            </a:r>
          </a:p>
        </p:txBody>
      </p:sp>
      <p:sp>
        <p:nvSpPr>
          <p:cNvPr id="21" name="Shape 20"/>
          <p:cNvSpPr/>
          <p:nvPr/>
        </p:nvSpPr>
        <p:spPr>
          <a:xfrm>
            <a:off x="548640" y="2907792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22" name="Text 21"/>
          <p:cNvSpPr/>
          <p:nvPr/>
        </p:nvSpPr>
        <p:spPr>
          <a:xfrm>
            <a:off x="658368" y="292608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buNone/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进度符合度　</a:t>
            </a:r>
            <a:r>
              <a:rPr lang="zh-CN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实际进度与计划的偏差、是否主动预警</a:t>
            </a:r>
          </a:p>
        </p:txBody>
      </p:sp>
      <p:sp>
        <p:nvSpPr>
          <p:cNvPr id="23" name="Text 22"/>
          <p:cNvSpPr/>
          <p:nvPr/>
        </p:nvSpPr>
        <p:spPr>
          <a:xfrm>
            <a:off x="3749040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20%</a:t>
            </a:r>
          </a:p>
        </p:txBody>
      </p:sp>
      <p:sp>
        <p:nvSpPr>
          <p:cNvPr id="24" name="Text 23"/>
          <p:cNvSpPr/>
          <p:nvPr/>
        </p:nvSpPr>
        <p:spPr>
          <a:xfrm>
            <a:off x="5029200" y="2907792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89.3</a:t>
            </a:r>
          </a:p>
        </p:txBody>
      </p:sp>
      <p:sp>
        <p:nvSpPr>
          <p:cNvPr id="25" name="Text 24"/>
          <p:cNvSpPr/>
          <p:nvPr/>
        </p:nvSpPr>
        <p:spPr>
          <a:xfrm>
            <a:off x="6492240" y="2907792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91.7</a:t>
            </a:r>
          </a:p>
        </p:txBody>
      </p:sp>
      <p:sp>
        <p:nvSpPr>
          <p:cNvPr id="26" name="Shape 25"/>
          <p:cNvSpPr/>
          <p:nvPr/>
        </p:nvSpPr>
        <p:spPr>
          <a:xfrm>
            <a:off x="548640" y="3383280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27" name="RowBg 26"/>
          <p:cNvSpPr/>
          <p:nvPr/>
        </p:nvSpPr>
        <p:spPr>
          <a:xfrm>
            <a:off x="548640" y="3383280"/>
            <a:ext cx="740664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28" name="Text 27"/>
          <p:cNvSpPr/>
          <p:nvPr/>
        </p:nvSpPr>
        <p:spPr>
          <a:xfrm>
            <a:off x="658368" y="3401568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buNone/>
            </a:pPr>
            <a:r>
              <a:rPr lang="zh-CN" sz="11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协作与沟通　</a:t>
            </a:r>
            <a:r>
              <a:rPr lang="zh-CN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例会参与、记录质量、配合他人任务</a:t>
            </a:r>
          </a:p>
        </p:txBody>
      </p:sp>
      <p:sp>
        <p:nvSpPr>
          <p:cNvPr id="29" name="Text 28"/>
          <p:cNvSpPr/>
          <p:nvPr/>
        </p:nvSpPr>
        <p:spPr>
          <a:xfrm>
            <a:off x="3749040" y="33832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15%</a:t>
            </a:r>
          </a:p>
        </p:txBody>
      </p:sp>
      <p:sp>
        <p:nvSpPr>
          <p:cNvPr id="30" name="Text 29"/>
          <p:cNvSpPr/>
          <p:nvPr/>
        </p:nvSpPr>
        <p:spPr>
          <a:xfrm>
            <a:off x="5029200" y="338328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90.0</a:t>
            </a:r>
          </a:p>
        </p:txBody>
      </p:sp>
      <p:sp>
        <p:nvSpPr>
          <p:cNvPr id="31" name="Text 30"/>
          <p:cNvSpPr/>
          <p:nvPr/>
        </p:nvSpPr>
        <p:spPr>
          <a:xfrm>
            <a:off x="6492240" y="3383280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94.0</a:t>
            </a:r>
          </a:p>
        </p:txBody>
      </p:sp>
      <p:sp>
        <p:nvSpPr>
          <p:cNvPr id="32" name="Shape 31"/>
          <p:cNvSpPr/>
          <p:nvPr/>
        </p:nvSpPr>
        <p:spPr>
          <a:xfrm>
            <a:off x="548640" y="3858768"/>
            <a:ext cx="74066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33" name="TotBg 32"/>
          <p:cNvSpPr/>
          <p:nvPr/>
        </p:nvSpPr>
        <p:spPr>
          <a:xfrm>
            <a:off x="548640" y="3858768"/>
            <a:ext cx="7406640" cy="475488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34" name="Text 33"/>
          <p:cNvSpPr/>
          <p:nvPr/>
        </p:nvSpPr>
        <p:spPr>
          <a:xfrm>
            <a:off x="658368" y="3858768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加权总分</a:t>
            </a:r>
          </a:p>
        </p:txBody>
      </p:sp>
      <p:sp>
        <p:nvSpPr>
          <p:cNvPr id="35" name="Text 34"/>
          <p:cNvSpPr/>
          <p:nvPr/>
        </p:nvSpPr>
        <p:spPr>
          <a:xfrm>
            <a:off x="3749040" y="38587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</a:p>
        </p:txBody>
      </p:sp>
      <p:sp>
        <p:nvSpPr>
          <p:cNvPr id="36" name="Text 35"/>
          <p:cNvSpPr/>
          <p:nvPr/>
        </p:nvSpPr>
        <p:spPr>
          <a:xfrm>
            <a:off x="5029200" y="385876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90.1</a:t>
            </a:r>
          </a:p>
        </p:txBody>
      </p:sp>
      <p:sp>
        <p:nvSpPr>
          <p:cNvPr id="37" name="Text 36"/>
          <p:cNvSpPr/>
          <p:nvPr/>
        </p:nvSpPr>
        <p:spPr>
          <a:xfrm>
            <a:off x="6492240" y="3858768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5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91.2</a:t>
            </a:r>
          </a:p>
        </p:txBody>
      </p:sp>
      <p:sp>
        <p:nvSpPr>
          <p:cNvPr id="38" name="GradeBg 37"/>
          <p:cNvSpPr/>
          <p:nvPr/>
        </p:nvSpPr>
        <p:spPr>
          <a:xfrm>
            <a:off x="548640" y="4334256"/>
            <a:ext cx="7406640" cy="475488"/>
          </a:xfrm>
          <a:prstGeom prst="rect">
            <a:avLst/>
          </a:prstGeom>
          <a:solidFill>
            <a:srgbClr val="E8EDF5"/>
          </a:solidFill>
          <a:ln>
            <a:noFill/>
          </a:ln>
        </p:spPr>
      </p:sp>
      <p:sp>
        <p:nvSpPr>
          <p:cNvPr id="39" name="Text 38"/>
          <p:cNvSpPr/>
          <p:nvPr/>
        </p:nvSpPr>
        <p:spPr>
          <a:xfrm>
            <a:off x="658368" y="433425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评价等级（≥90 为优秀）</a:t>
            </a:r>
          </a:p>
        </p:txBody>
      </p:sp>
      <p:sp>
        <p:nvSpPr>
          <p:cNvPr id="40" name="Text 39"/>
          <p:cNvSpPr/>
          <p:nvPr/>
        </p:nvSpPr>
        <p:spPr>
          <a:xfrm>
            <a:off x="3749040" y="43342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</a:p>
        </p:txBody>
      </p:sp>
      <p:sp>
        <p:nvSpPr>
          <p:cNvPr id="41" name="Text 40"/>
          <p:cNvSpPr/>
          <p:nvPr/>
        </p:nvSpPr>
        <p:spPr>
          <a:xfrm>
            <a:off x="5029200" y="433425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</a:t>
            </a:r>
          </a:p>
        </p:txBody>
      </p:sp>
      <p:sp>
        <p:nvSpPr>
          <p:cNvPr id="42" name="Text 41"/>
          <p:cNvSpPr/>
          <p:nvPr/>
        </p:nvSpPr>
        <p:spPr>
          <a:xfrm>
            <a:off x="6492240" y="433425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2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</a:t>
            </a:r>
          </a:p>
        </p:txBody>
      </p:sp>
      <p:sp>
        <p:nvSpPr>
          <p:cNvPr id="43" name="Shape 42"/>
          <p:cNvSpPr/>
          <p:nvPr/>
        </p:nvSpPr>
        <p:spPr>
          <a:xfrm>
            <a:off x="8183880" y="1572768"/>
            <a:ext cx="3429000" cy="2103120"/>
          </a:xfrm>
          <a:prstGeom prst="roundRect">
            <a:avLst>
              <a:gd name="adj" fmla="val 60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44" name="Text 43"/>
          <p:cNvSpPr/>
          <p:nvPr/>
        </p:nvSpPr>
        <p:spPr>
          <a:xfrm>
            <a:off x="8366760" y="168249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4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评价值来源</a:t>
            </a:r>
          </a:p>
        </p:txBody>
      </p:sp>
      <p:sp>
        <p:nvSpPr>
          <p:cNvPr id="45" name="Text 44"/>
          <p:cNvSpPr/>
          <p:nvPr/>
        </p:nvSpPr>
        <p:spPr>
          <a:xfrm>
            <a:off x="8366760" y="210312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自评 20%　+　互评 40%　+　指导教师 40%</a:t>
            </a:r>
          </a:p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 M1–M3 三个里程碑，每次评审后 3 日内完成</a:t>
            </a:r>
          </a:p>
          <a:p>
            <a:pPr>
              <a:lnSpc>
                <a:spcPct val="130000"/>
              </a:lnSpc>
              <a:buNone/>
            </a:pPr>
            <a:r>
              <a:rPr lang="zh-CN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结果在组内公开，作为任务分配调整依据</a:t>
            </a:r>
          </a:p>
        </p:txBody>
      </p:sp>
      <p:sp>
        <p:nvSpPr>
          <p:cNvPr id="46" name="Shape 45"/>
          <p:cNvSpPr/>
          <p:nvPr/>
        </p:nvSpPr>
        <p:spPr>
          <a:xfrm>
            <a:off x="8183880" y="3840480"/>
            <a:ext cx="3429000" cy="1810512"/>
          </a:xfrm>
          <a:prstGeom prst="roundRect">
            <a:avLst>
              <a:gd name="adj" fmla="val 707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47" name="Text 46"/>
          <p:cNvSpPr/>
          <p:nvPr/>
        </p:nvSpPr>
        <p:spPr>
          <a:xfrm>
            <a:off x="8366760" y="395020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4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</a:p>
        </p:txBody>
      </p:sp>
      <p:sp>
        <p:nvSpPr>
          <p:cNvPr id="48" name="Text 47"/>
          <p:cNvSpPr/>
          <p:nvPr/>
        </p:nvSpPr>
        <p:spPr>
          <a:xfrm>
            <a:off x="8366760" y="4370832"/>
            <a:ext cx="306324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sz="105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两人加权总分 90.1 / 91.2，均达“优秀”</a:t>
            </a:r>
          </a:p>
          <a:p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lang="zh-CN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四个维度均 ≥ 89 分，无短板项</a:t>
            </a:r>
          </a:p>
          <a:p>
            <a:pPr>
              <a:lnSpc>
                <a:spcPct val="130000"/>
              </a:lnSpc>
              <a:buNone/>
            </a:pPr>
            <a:r>
              <a:rPr lang="zh-CN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无需调整任务分配；李雨鑫在协作维度领先 4 分</a:t>
            </a:r>
          </a:p>
        </p:txBody>
      </p:sp>
      <p:sp>
        <p:nvSpPr>
          <p:cNvPr id="49" name="Shape 48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50" name="Text 49"/>
          <p:cNvSpPr/>
          <p:nvPr/>
        </p:nvSpPr>
        <p:spPr>
          <a:xfrm>
            <a:off x="868680" y="5779008"/>
            <a:ext cx="104241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  <a:buNone/>
            </a:pPr>
            <a:r>
              <a:rPr lang="zh-CN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评价结果已纳入计划书表 9-4 与附录 D，作为 M4 起任务分配与绩效考核的依据</a:t>
            </a:r>
          </a:p>
        </p:txBody>
      </p:sp>
      <p:sp>
        <p:nvSpPr>
          <p:cNvPr id="51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52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团队会议纪要</a:t>
            </a:r>
          </a:p>
        </p:txBody>
      </p:sp>
      <p:sp>
        <p:nvSpPr>
          <p:cNvPr id="3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548640" y="1188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截至项目计划评审阶段，共在寝室召开 2 次项目例会，均形成书面纪要并归档至 Git 仓库 /process。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1572768"/>
            <a:ext cx="11064240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6" name="HeadBg 5"/>
          <p:cNvSpPr/>
          <p:nvPr/>
        </p:nvSpPr>
        <p:spPr>
          <a:xfrm>
            <a:off x="548640" y="1572768"/>
            <a:ext cx="1106424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7" name="Text 6"/>
          <p:cNvSpPr/>
          <p:nvPr/>
        </p:nvSpPr>
        <p:spPr>
          <a:xfrm>
            <a:off x="676656" y="1591056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次序</a:t>
            </a:r>
          </a:p>
        </p:txBody>
      </p:sp>
      <p:sp>
        <p:nvSpPr>
          <p:cNvPr id="8" name="Text 7"/>
          <p:cNvSpPr/>
          <p:nvPr/>
        </p:nvSpPr>
        <p:spPr>
          <a:xfrm>
            <a:off x="1600200" y="159105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</a:p>
        </p:txBody>
      </p:sp>
      <p:sp>
        <p:nvSpPr>
          <p:cNvPr id="9" name="Text 8"/>
          <p:cNvSpPr/>
          <p:nvPr/>
        </p:nvSpPr>
        <p:spPr>
          <a:xfrm>
            <a:off x="3063240" y="15910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地点</a:t>
            </a:r>
          </a:p>
        </p:txBody>
      </p:sp>
      <p:sp>
        <p:nvSpPr>
          <p:cNvPr id="10" name="Text 9"/>
          <p:cNvSpPr/>
          <p:nvPr/>
        </p:nvSpPr>
        <p:spPr>
          <a:xfrm>
            <a:off x="5029200" y="159105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主要议题</a:t>
            </a:r>
          </a:p>
        </p:txBody>
      </p:sp>
      <p:sp>
        <p:nvSpPr>
          <p:cNvPr id="11" name="Text 10"/>
          <p:cNvSpPr/>
          <p:nvPr/>
        </p:nvSpPr>
        <p:spPr>
          <a:xfrm>
            <a:off x="7909560" y="159105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形成的决议</a:t>
            </a:r>
          </a:p>
        </p:txBody>
      </p:sp>
      <p:sp>
        <p:nvSpPr>
          <p:cNvPr id="12" name="Text 11"/>
          <p:cNvSpPr/>
          <p:nvPr/>
        </p:nvSpPr>
        <p:spPr>
          <a:xfrm>
            <a:off x="676656" y="1956816"/>
            <a:ext cx="86868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次</a:t>
            </a:r>
          </a:p>
        </p:txBody>
      </p:sp>
      <p:sp>
        <p:nvSpPr>
          <p:cNvPr id="13" name="Text 12"/>
          <p:cNvSpPr/>
          <p:nvPr/>
        </p:nvSpPr>
        <p:spPr>
          <a:xfrm>
            <a:off x="1600200" y="1956816"/>
            <a:ext cx="141732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教学周
9/30（周三）20:00–21:00</a:t>
            </a:r>
          </a:p>
        </p:txBody>
      </p:sp>
      <p:sp>
        <p:nvSpPr>
          <p:cNvPr id="14" name="Text 13"/>
          <p:cNvSpPr/>
          <p:nvPr/>
        </p:nvSpPr>
        <p:spPr>
          <a:xfrm>
            <a:off x="3063240" y="1956816"/>
            <a:ext cx="192024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寝室
（罗嘉昊宿舍）</a:t>
            </a:r>
          </a:p>
        </p:txBody>
      </p:sp>
      <p:sp>
        <p:nvSpPr>
          <p:cNvPr id="15" name="Text 14"/>
          <p:cNvSpPr/>
          <p:nvPr/>
        </p:nvSpPr>
        <p:spPr>
          <a:xfrm>
            <a:off x="5029200" y="1956816"/>
            <a:ext cx="283464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项目计划书内部评审
② 课程进度对齐
③ 调研数据小结</a:t>
            </a:r>
          </a:p>
        </p:txBody>
      </p:sp>
      <p:sp>
        <p:nvSpPr>
          <p:cNvPr id="16" name="Text 15"/>
          <p:cNvSpPr/>
          <p:nvPr/>
        </p:nvSpPr>
        <p:spPr>
          <a:xfrm>
            <a:off x="7909560" y="1956816"/>
            <a:ext cx="356616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补齐三级 WBS、任务级工期与资源负载，9/30 提交
② 排期以课程进度表为唯一基准
③ 调研数据移交罗嘉昊作为可行性报告输入</a:t>
            </a:r>
          </a:p>
        </p:txBody>
      </p:sp>
      <p:sp>
        <p:nvSpPr>
          <p:cNvPr id="17" name="Shape 16"/>
          <p:cNvSpPr/>
          <p:nvPr/>
        </p:nvSpPr>
        <p:spPr>
          <a:xfrm>
            <a:off x="548640" y="3438144"/>
            <a:ext cx="110642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18" name="RowBg 17"/>
          <p:cNvSpPr/>
          <p:nvPr/>
        </p:nvSpPr>
        <p:spPr>
          <a:xfrm>
            <a:off x="548640" y="3438144"/>
            <a:ext cx="11064240" cy="1481328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9" name="Text 18"/>
          <p:cNvSpPr/>
          <p:nvPr/>
        </p:nvSpPr>
        <p:spPr>
          <a:xfrm>
            <a:off x="676656" y="3438144"/>
            <a:ext cx="86868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CN" sz="13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次</a:t>
            </a:r>
          </a:p>
        </p:txBody>
      </p:sp>
      <p:sp>
        <p:nvSpPr>
          <p:cNvPr id="20" name="Text 19"/>
          <p:cNvSpPr/>
          <p:nvPr/>
        </p:nvSpPr>
        <p:spPr>
          <a:xfrm>
            <a:off x="1600200" y="3438144"/>
            <a:ext cx="141732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教学周
10/14（周三）20:00–21:10</a:t>
            </a:r>
          </a:p>
        </p:txBody>
      </p:sp>
      <p:sp>
        <p:nvSpPr>
          <p:cNvPr id="21" name="Text 20"/>
          <p:cNvSpPr/>
          <p:nvPr/>
        </p:nvSpPr>
        <p:spPr>
          <a:xfrm>
            <a:off x="3063240" y="3438144"/>
            <a:ext cx="192024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寝室
（李雨鑫宿舍）</a:t>
            </a:r>
          </a:p>
        </p:txBody>
      </p:sp>
      <p:sp>
        <p:nvSpPr>
          <p:cNvPr id="22" name="Text 21"/>
          <p:cNvSpPr/>
          <p:nvPr/>
        </p:nvSpPr>
        <p:spPr>
          <a:xfrm>
            <a:off x="5029200" y="3438144"/>
            <a:ext cx="283464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落实 10/14 项目计划评审意见
② 资源过载问题
③ 可行性研究启动</a:t>
            </a:r>
          </a:p>
        </p:txBody>
      </p:sp>
      <p:sp>
        <p:nvSpPr>
          <p:cNvPr id="23" name="Text 22"/>
          <p:cNvSpPr/>
          <p:nvPr/>
        </p:nvSpPr>
        <p:spPr>
          <a:xfrm>
            <a:off x="7909560" y="3438144"/>
            <a:ext cx="3566160" cy="1481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计划书升版 V3.0，补齐甘特图与负载分析
② 编码提前至 W9；峰值周由两人共同承担
③ 可行性报告 10/21 提交</a:t>
            </a:r>
          </a:p>
        </p:txBody>
      </p:sp>
      <p:sp>
        <p:nvSpPr>
          <p:cNvPr id="24" name="Shape 23"/>
          <p:cNvSpPr/>
          <p:nvPr/>
        </p:nvSpPr>
        <p:spPr>
          <a:xfrm>
            <a:off x="548640" y="4919472"/>
            <a:ext cx="1106424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25" name="Shape 24"/>
          <p:cNvSpPr/>
          <p:nvPr/>
        </p:nvSpPr>
        <p:spPr>
          <a:xfrm>
            <a:off x="548640" y="4828032"/>
            <a:ext cx="3538728" cy="1389888"/>
          </a:xfrm>
          <a:prstGeom prst="roundRect">
            <a:avLst>
              <a:gd name="adj" fmla="val 921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6" name="Text 25"/>
          <p:cNvSpPr/>
          <p:nvPr/>
        </p:nvSpPr>
        <p:spPr>
          <a:xfrm>
            <a:off x="777240" y="4919472"/>
            <a:ext cx="3081528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None/>
            </a:pPr>
            <a:r>
              <a:rPr lang="zh-CN" sz="125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纪要四要素</a:t>
            </a:r>
          </a:p>
          <a:p>
            <a:pPr>
              <a:lnSpc>
                <a:spcPct val="125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会议基本信息 · 议题讨论要点 · 形成的决议 · 待办事项（含责任人与期限）</a:t>
            </a:r>
          </a:p>
        </p:txBody>
      </p:sp>
      <p:sp>
        <p:nvSpPr>
          <p:cNvPr id="27" name="Shape 26"/>
          <p:cNvSpPr/>
          <p:nvPr/>
        </p:nvSpPr>
        <p:spPr>
          <a:xfrm>
            <a:off x="4325112" y="4828032"/>
            <a:ext cx="3538728" cy="1389888"/>
          </a:xfrm>
          <a:prstGeom prst="roundRect">
            <a:avLst>
              <a:gd name="adj" fmla="val 921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8" name="Text 27"/>
          <p:cNvSpPr/>
          <p:nvPr/>
        </p:nvSpPr>
        <p:spPr>
          <a:xfrm>
            <a:off x="4553712" y="4919472"/>
            <a:ext cx="3081528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None/>
            </a:pPr>
            <a:r>
              <a:rPr lang="zh-CN" sz="125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归档要求</a:t>
            </a:r>
          </a:p>
          <a:p>
            <a:pPr>
              <a:lnSpc>
                <a:spcPct val="125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会后 24 小时内完成，经组长审核后归档至 Git 仓库 /process 目录</a:t>
            </a:r>
          </a:p>
        </p:txBody>
      </p:sp>
      <p:sp>
        <p:nvSpPr>
          <p:cNvPr id="29" name="Shape 28"/>
          <p:cNvSpPr/>
          <p:nvPr/>
        </p:nvSpPr>
        <p:spPr>
          <a:xfrm>
            <a:off x="8101584" y="4828032"/>
            <a:ext cx="3511296" cy="1389888"/>
          </a:xfrm>
          <a:prstGeom prst="roundRect">
            <a:avLst>
              <a:gd name="adj" fmla="val 92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0" dist="38100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30" name="Text 29"/>
          <p:cNvSpPr/>
          <p:nvPr/>
        </p:nvSpPr>
        <p:spPr>
          <a:xfrm>
            <a:off x="8330184" y="4919472"/>
            <a:ext cx="305409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None/>
            </a:pPr>
            <a:r>
              <a:rPr lang="zh-CN" sz="12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闭环管理</a:t>
            </a:r>
          </a:p>
          <a:p>
            <a:pPr>
              <a:lnSpc>
                <a:spcPct val="125000"/>
              </a:lnSpc>
              <a:buNone/>
            </a:pPr>
            <a:r>
              <a:rPr lang="zh-CN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下次例会开始时逐项核对上次待办完成情况，未完成项说明原因并顺延</a:t>
            </a:r>
          </a:p>
        </p:txBody>
      </p:sp>
      <p:sp>
        <p:nvSpPr>
          <p:cNvPr id="31" name="Text 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校园互助平台 · 项目方案</a:t>
            </a:r>
          </a:p>
        </p:txBody>
      </p:sp>
      <p:sp>
        <p:nvSpPr>
          <p:cNvPr id="32" name="Text 2"/>
          <p:cNvSpPr/>
          <p:nvPr/>
        </p:nvSpPr>
        <p:spPr>
          <a:xfrm>
            <a:off x="6126480" y="65105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zh-CN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2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3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4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5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6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7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8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9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0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1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2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3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4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5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6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7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ags/tag18.xml><?xml version="1.0" encoding="utf-8"?>
<p:tagLst xmlns:p="http://schemas.openxmlformats.org/presentationml/2006/main">
  <p:tag name="KSO_WM_DIAGRAM_VIRTUALLY_FRAME" val="{&quot;height&quot;:385.2,&quot;left&quot;:43.2,&quot;top&quot;:108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WPS 演示</Application>
  <PresentationFormat>On-screen Show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校园互助平台项目方案</dc:title>
  <dc:creator>PptxGenJS</dc:creator>
  <dc:subject>PptxGenJS Presentation</dc:subject>
  <cp:lastModifiedBy>WPS_1178154985</cp:lastModifiedBy>
  <cp:revision>3</cp:revision>
  <dcterms:created xsi:type="dcterms:W3CDTF">2026-09-20T08:43:00Z</dcterms:created>
  <dcterms:modified xsi:type="dcterms:W3CDTF">2026-09-20T09:44:34Z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AD815D210B884779B0812DEF29A3DC78_13</vt:lpwstr>
  </property>
</Properties>
</file>